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491" r:id="rId2"/>
    <p:sldId id="539" r:id="rId3"/>
    <p:sldId id="540" r:id="rId4"/>
    <p:sldId id="541" r:id="rId5"/>
    <p:sldId id="547" r:id="rId6"/>
    <p:sldId id="549" r:id="rId7"/>
    <p:sldId id="542" r:id="rId8"/>
    <p:sldId id="256" r:id="rId9"/>
    <p:sldId id="543" r:id="rId10"/>
    <p:sldId id="545" r:id="rId11"/>
    <p:sldId id="54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B7FFF"/>
    <a:srgbClr val="ECF4FD"/>
    <a:srgbClr val="EEF5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0" d="100"/>
          <a:sy n="120" d="100"/>
        </p:scale>
        <p:origin x="2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5F69F-F8E6-4977-A92A-5C4B4C8F27C7}" type="datetimeFigureOut">
              <a:rPr lang="en-IN" smtClean="0"/>
              <a:t>25-10-2025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97124-85EE-494A-B16A-C78942ABDCE8}" type="slidenum">
              <a:rPr lang="en-IN" smtClean="0"/>
              <a:t>‹#›</a:t>
            </a:fld>
            <a:endParaRPr lang="en-IN"/>
          </a:p>
        </p:txBody>
      </p:sp>
    </p:spTree>
    <p:extLst>
      <p:ext uri="{BB962C8B-B14F-4D97-AF65-F5344CB8AC3E}">
        <p14:creationId xmlns:p14="http://schemas.microsoft.com/office/powerpoint/2010/main" val="825269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sp>
      <p:sp>
        <p:nvSpPr>
          <p:cNvPr id="3" name="Notes Placeholder 2"/>
          <p:cNvSpPr>
            <a:spLocks noGrp="1"/>
          </p:cNvSpPr>
          <p:nvPr>
            <p:ph type="body" idx="1"/>
          </p:nvPr>
        </p:nvSpPr>
        <p:spPr/>
        <p:txBody>
          <a:bodyPr/>
          <a:lstStyle/>
          <a:p>
            <a:pPr marL="0" indent="0">
              <a:buFontTx/>
              <a:buNone/>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1FB7-1E36-455E-926F-E303DC17FB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29A8B1-C9AC-4052-B04C-A9DAEA3C43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D72EB0-F3D7-4EAD-B6FE-066C60A659FF}"/>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A2677DE0-64D5-4556-86C3-570DD7BB6E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2C64E7-B6B7-4B47-92AF-05E0BC70BCBD}"/>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92011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6AAD-90D7-4758-9790-EC6D2DF251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9793DC-5E74-46EF-AD0A-51648C0749A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203F9F-A71F-4F08-B711-D5C2C5205949}"/>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80283F9C-1375-4FE2-A995-DCC76A6B96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4B7317-468E-4466-9930-D6C4C1076510}"/>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682960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D9D8F-0CD2-4A43-98A4-3299792A3D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A0FA4-D876-4168-91DF-1DBFC6691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9D8A10B-BE97-4977-A458-156BDF7BAE0C}"/>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7A05D3C3-726C-4905-80A8-1DE68D469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5D65E5-F88B-4D68-88EE-9D24566F62FB}"/>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361799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D5AC-E4ED-44F2-95F5-867001B08B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5D450A-5035-461C-A0A2-C7CD4340D5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A131C5-9AA0-4ED0-9209-E00C9776762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03ED37-6E58-4750-9E2C-BF16418DEF13}"/>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6" name="Footer Placeholder 5">
            <a:extLst>
              <a:ext uri="{FF2B5EF4-FFF2-40B4-BE49-F238E27FC236}">
                <a16:creationId xmlns:a16="http://schemas.microsoft.com/office/drawing/2014/main" id="{2FD86312-9D86-40E0-A7C4-35740C815C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D94D88-B8C3-451D-9360-988ACC22B11D}"/>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3507196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D867-4AC5-43AB-9DE4-D5387167F5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D293B7-8967-412D-850D-9A46B5D032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517174-D26B-4D41-87E5-CC2ABE93050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CC1AD3-1D35-4A9F-A4CF-9D04AC4F7A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17D85B-426E-46AB-9443-F45D8C8C04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E13ED2-C3E9-485B-AD67-0AB61E4C999E}"/>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8" name="Footer Placeholder 7">
            <a:extLst>
              <a:ext uri="{FF2B5EF4-FFF2-40B4-BE49-F238E27FC236}">
                <a16:creationId xmlns:a16="http://schemas.microsoft.com/office/drawing/2014/main" id="{41F745E2-3CE6-4576-9788-DEB993EE54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68B99F-3F4D-47CF-95FD-EE454DBEFE19}"/>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852684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781E-F071-4498-8B9E-875B49C376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2D1212-89A5-4A74-BCAB-B91FA795BAF6}"/>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4" name="Footer Placeholder 3">
            <a:extLst>
              <a:ext uri="{FF2B5EF4-FFF2-40B4-BE49-F238E27FC236}">
                <a16:creationId xmlns:a16="http://schemas.microsoft.com/office/drawing/2014/main" id="{95037C83-FC44-48DC-BDAF-30EB076B87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BC4398-7AF0-41B3-A767-E48AB15C3E6D}"/>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2819265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0286E3-590A-4876-8E2D-61DFBB659A9D}"/>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3" name="Footer Placeholder 2">
            <a:extLst>
              <a:ext uri="{FF2B5EF4-FFF2-40B4-BE49-F238E27FC236}">
                <a16:creationId xmlns:a16="http://schemas.microsoft.com/office/drawing/2014/main" id="{E35110DE-9090-4ABB-9FC6-391CA87F16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65CDCC-562B-42FB-9893-2264EFA88A81}"/>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532264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48C7-0147-4A3A-8C0E-49AEB3D5D8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50C60C-D57B-489A-828F-9276A05E9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06FC45-702E-4912-9BB5-C33C4C1D59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BC2EB90-68B3-429C-8222-219EA280E04C}"/>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6" name="Footer Placeholder 5">
            <a:extLst>
              <a:ext uri="{FF2B5EF4-FFF2-40B4-BE49-F238E27FC236}">
                <a16:creationId xmlns:a16="http://schemas.microsoft.com/office/drawing/2014/main" id="{9D120DAC-4ED7-4E42-BFBC-039F0026CB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209977-351C-4EB1-9258-304BD99C0CF3}"/>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871965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D30-B886-4CAA-9E9F-A2BA7401E2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68BC1B-5C7B-48C2-914F-27EDA5A034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462CD2-0AA1-4E47-94E1-DD16117A6F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9C796AD-F4E6-4BE1-89C1-2893C153E3D9}"/>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6" name="Footer Placeholder 5">
            <a:extLst>
              <a:ext uri="{FF2B5EF4-FFF2-40B4-BE49-F238E27FC236}">
                <a16:creationId xmlns:a16="http://schemas.microsoft.com/office/drawing/2014/main" id="{945A48CD-0BD3-44E9-B6BF-4AE7F6E685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5C8CEC-3B98-45D0-85B7-490462243F88}"/>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875428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62F3-DBC1-426A-9561-D3424BA30F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AC29B0-3D06-4AA1-8637-28817B4C391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390A3B-B784-4790-BADD-5F7CF5200782}"/>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B0009CD3-57C2-4B75-9E1E-EE4F5F128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BBB438-5348-4FC3-A140-75DA7650D03A}"/>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1600638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7E1F0F-37B1-4888-BFC6-828CB2D5D0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D61EFB-3CF9-437F-8050-19CA9546FA6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70FBD2-4DB2-459B-8549-0E5CF0FF50A3}"/>
              </a:ext>
            </a:extLst>
          </p:cNvPr>
          <p:cNvSpPr>
            <a:spLocks noGrp="1"/>
          </p:cNvSpPr>
          <p:nvPr>
            <p:ph type="dt" sz="half" idx="10"/>
          </p:nvPr>
        </p:nvSpPr>
        <p:spPr/>
        <p:txBody>
          <a:body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07D6C29B-2581-4B51-9329-F56928F2DC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7CFC2C-FB14-4C5F-B9AA-54DC44ACFF21}"/>
              </a:ext>
            </a:extLst>
          </p:cNvPr>
          <p:cNvSpPr>
            <a:spLocks noGrp="1"/>
          </p:cNvSpPr>
          <p:nvPr>
            <p:ph type="sldNum" sz="quarter" idx="12"/>
          </p:nvPr>
        </p:nvSpPr>
        <p:spPr/>
        <p:txBody>
          <a:bodyPr/>
          <a:lstStyle/>
          <a:p>
            <a:fld id="{DED7697B-2A97-46D9-B862-83604298D16A}" type="slidenum">
              <a:rPr lang="en-IN" smtClean="0"/>
              <a:t>‹#›</a:t>
            </a:fld>
            <a:endParaRPr lang="en-IN"/>
          </a:p>
        </p:txBody>
      </p:sp>
    </p:spTree>
    <p:extLst>
      <p:ext uri="{BB962C8B-B14F-4D97-AF65-F5344CB8AC3E}">
        <p14:creationId xmlns:p14="http://schemas.microsoft.com/office/powerpoint/2010/main" val="2817580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gradFill flip="none" rotWithShape="1">
          <a:gsLst>
            <a:gs pos="0">
              <a:srgbClr val="F1F2F2"/>
            </a:gs>
            <a:gs pos="100000">
              <a:srgbClr val="EBEBEC"/>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1" y="0"/>
            <a:ext cx="12191998" cy="2290963"/>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2133" b="1" dirty="0" err="1">
              <a:solidFill>
                <a:schemeClr val="bg1"/>
              </a:solidFill>
              <a:latin typeface="+mj-lt"/>
            </a:endParaRPr>
          </a:p>
        </p:txBody>
      </p:sp>
      <p:sp>
        <p:nvSpPr>
          <p:cNvPr id="35" name="Title 34"/>
          <p:cNvSpPr>
            <a:spLocks noGrp="1"/>
          </p:cNvSpPr>
          <p:nvPr>
            <p:ph type="title" hasCustomPrompt="1"/>
          </p:nvPr>
        </p:nvSpPr>
        <p:spPr>
          <a:xfrm>
            <a:off x="1385920" y="2922681"/>
            <a:ext cx="9426016" cy="673967"/>
          </a:xfrm>
        </p:spPr>
        <p:txBody>
          <a:bodyPr vert="horz" wrap="square" lIns="0" tIns="0" rIns="0" bIns="45720" rtlCol="0" anchor="b">
            <a:spAutoFit/>
          </a:bodyPr>
          <a:lstStyle>
            <a:lvl1pPr marL="0" marR="0" indent="0" algn="l" defTabSz="1219151" rtl="0" eaLnBrk="1" fontAlgn="auto" latinLnBrk="0" hangingPunct="1">
              <a:lnSpc>
                <a:spcPct val="90000"/>
              </a:lnSpc>
              <a:spcBef>
                <a:spcPct val="0"/>
              </a:spcBef>
              <a:spcAft>
                <a:spcPts val="0"/>
              </a:spcAft>
              <a:buClrTx/>
              <a:buSzTx/>
              <a:buFontTx/>
              <a:buNone/>
              <a:defRPr kumimoji="0" lang="en-US" sz="4533" b="0" i="0" u="none" strike="noStrike" kern="1200" cap="none" spc="0" normalizeH="0" baseline="0" noProof="0">
                <a:ln>
                  <a:noFill/>
                </a:ln>
                <a:solidFill>
                  <a:srgbClr val="004170"/>
                </a:solidFill>
                <a:effectLst/>
                <a:uLnTx/>
                <a:uFillTx/>
                <a:latin typeface="+mj-lt"/>
                <a:ea typeface="Roboto" panose="02000000000000000000" pitchFamily="2" charset="0"/>
                <a:cs typeface="Roboto" panose="02000000000000000000" pitchFamily="2" charset="0"/>
              </a:defRPr>
            </a:lvl1pPr>
          </a:lstStyle>
          <a:p>
            <a:pPr marL="0" marR="0" lvl="0" indent="0" algn="l" defTabSz="1219151" rtl="0" eaLnBrk="1" fontAlgn="auto" latinLnBrk="0" hangingPunct="1">
              <a:lnSpc>
                <a:spcPct val="90000"/>
              </a:lnSpc>
              <a:spcBef>
                <a:spcPct val="0"/>
              </a:spcBef>
              <a:spcAft>
                <a:spcPts val="0"/>
              </a:spcAft>
              <a:buClrTx/>
              <a:buSzTx/>
              <a:buFontTx/>
              <a:buNone/>
              <a:defRPr/>
            </a:pPr>
            <a:r>
              <a:rPr lang="en-US" dirty="0"/>
              <a:t>Presentation Title Here</a:t>
            </a:r>
          </a:p>
        </p:txBody>
      </p:sp>
      <p:sp>
        <p:nvSpPr>
          <p:cNvPr id="38" name="Text Placeholder 2"/>
          <p:cNvSpPr>
            <a:spLocks noGrp="1"/>
          </p:cNvSpPr>
          <p:nvPr>
            <p:ph type="body" idx="1" hasCustomPrompt="1"/>
          </p:nvPr>
        </p:nvSpPr>
        <p:spPr>
          <a:xfrm>
            <a:off x="1385918" y="3580905"/>
            <a:ext cx="9426016" cy="507831"/>
          </a:xfrm>
        </p:spPr>
        <p:txBody>
          <a:bodyPr anchor="t" anchorCtr="0">
            <a:noAutofit/>
          </a:bodyPr>
          <a:lstStyle>
            <a:lvl1pPr marL="0" indent="0" algn="l" defTabSz="1219151" rtl="0" eaLnBrk="1" latinLnBrk="0" hangingPunct="1">
              <a:lnSpc>
                <a:spcPct val="90000"/>
              </a:lnSpc>
              <a:spcBef>
                <a:spcPts val="800"/>
              </a:spcBef>
              <a:buFont typeface="Arial" panose="020B0604020202020204" pitchFamily="34" charset="0"/>
              <a:buNone/>
              <a:defRPr sz="3467" i="0" spc="0" baseline="0">
                <a:solidFill>
                  <a:srgbClr val="525252"/>
                </a:solidFill>
                <a:latin typeface="+mj-lt"/>
                <a:ea typeface="Roboto" panose="02000000000000000000" pitchFamily="2" charset="0"/>
                <a:cs typeface="Roboto" panose="02000000000000000000" pitchFamily="2" charset="0"/>
              </a:defRPr>
            </a:lvl1pPr>
            <a:lvl2pPr marL="609576" indent="0">
              <a:buNone/>
              <a:defRPr sz="2400">
                <a:solidFill>
                  <a:schemeClr val="tx1">
                    <a:tint val="75000"/>
                  </a:schemeClr>
                </a:solidFill>
              </a:defRPr>
            </a:lvl2pPr>
            <a:lvl3pPr marL="1219151" indent="0">
              <a:buNone/>
              <a:defRPr sz="2133">
                <a:solidFill>
                  <a:schemeClr val="tx1">
                    <a:tint val="75000"/>
                  </a:schemeClr>
                </a:solidFill>
              </a:defRPr>
            </a:lvl3pPr>
            <a:lvl4pPr marL="1828727" indent="0">
              <a:buNone/>
              <a:defRPr sz="1867">
                <a:solidFill>
                  <a:schemeClr val="tx1">
                    <a:tint val="75000"/>
                  </a:schemeClr>
                </a:solidFill>
              </a:defRPr>
            </a:lvl4pPr>
            <a:lvl5pPr marL="2438302" indent="0">
              <a:buNone/>
              <a:defRPr sz="1867">
                <a:solidFill>
                  <a:schemeClr val="tx1">
                    <a:tint val="75000"/>
                  </a:schemeClr>
                </a:solidFill>
              </a:defRPr>
            </a:lvl5pPr>
            <a:lvl6pPr marL="3047878" indent="0">
              <a:buNone/>
              <a:defRPr sz="1867">
                <a:solidFill>
                  <a:schemeClr val="tx1">
                    <a:tint val="75000"/>
                  </a:schemeClr>
                </a:solidFill>
              </a:defRPr>
            </a:lvl6pPr>
            <a:lvl7pPr marL="3657454" indent="0">
              <a:buNone/>
              <a:defRPr sz="1867">
                <a:solidFill>
                  <a:schemeClr val="tx1">
                    <a:tint val="75000"/>
                  </a:schemeClr>
                </a:solidFill>
              </a:defRPr>
            </a:lvl7pPr>
            <a:lvl8pPr marL="4267029" indent="0">
              <a:buNone/>
              <a:defRPr sz="1867">
                <a:solidFill>
                  <a:schemeClr val="tx1">
                    <a:tint val="75000"/>
                  </a:schemeClr>
                </a:solidFill>
              </a:defRPr>
            </a:lvl8pPr>
            <a:lvl9pPr marL="4876605" indent="0">
              <a:buNone/>
              <a:defRPr sz="1867">
                <a:solidFill>
                  <a:schemeClr val="tx1">
                    <a:tint val="75000"/>
                  </a:schemeClr>
                </a:solidFill>
              </a:defRPr>
            </a:lvl9pPr>
          </a:lstStyle>
          <a:p>
            <a:pPr marL="0" lvl="0" indent="0" algn="l" defTabSz="1219151" rtl="0" eaLnBrk="1" latinLnBrk="0" hangingPunct="1">
              <a:lnSpc>
                <a:spcPct val="75000"/>
              </a:lnSpc>
              <a:spcBef>
                <a:spcPts val="1867"/>
              </a:spcBef>
              <a:buFont typeface="Arial" panose="020B0604020202020204" pitchFamily="34" charset="0"/>
              <a:buNone/>
            </a:pPr>
            <a:r>
              <a:rPr lang="en-US" dirty="0"/>
              <a:t>Subtitle Title Here</a:t>
            </a:r>
          </a:p>
        </p:txBody>
      </p:sp>
      <p:sp>
        <p:nvSpPr>
          <p:cNvPr id="3" name="Text Placeholder 2"/>
          <p:cNvSpPr>
            <a:spLocks noGrp="1"/>
          </p:cNvSpPr>
          <p:nvPr>
            <p:ph type="body" sz="quarter" idx="10" hasCustomPrompt="1"/>
          </p:nvPr>
        </p:nvSpPr>
        <p:spPr>
          <a:xfrm>
            <a:off x="1382184" y="4415958"/>
            <a:ext cx="9429751" cy="1162668"/>
          </a:xfrm>
        </p:spPr>
        <p:txBody>
          <a:bodyPr vert="horz" wrap="square" lIns="0" tIns="0" rIns="0" bIns="45720" rtlCol="0" anchor="t" anchorCtr="0"/>
          <a:lstStyle>
            <a:lvl1pPr marL="0" indent="0">
              <a:lnSpc>
                <a:spcPct val="100000"/>
              </a:lnSpc>
              <a:spcBef>
                <a:spcPts val="0"/>
              </a:spcBef>
              <a:buFontTx/>
              <a:buNone/>
              <a:defRPr lang="en-US" sz="2400" i="0" baseline="0" dirty="0" smtClean="0">
                <a:solidFill>
                  <a:srgbClr val="525252"/>
                </a:solidFill>
                <a:latin typeface="+mn-lt"/>
                <a:ea typeface="Roboto" panose="02000000000000000000" pitchFamily="2" charset="0"/>
                <a:cs typeface="Roboto" panose="02000000000000000000" pitchFamily="2"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a:p>
            <a:pPr marL="0" lvl="0"/>
            <a:r>
              <a:rPr lang="en-US" dirty="0"/>
              <a:t>Department Name</a:t>
            </a:r>
          </a:p>
          <a:p>
            <a:pPr marL="0" lvl="0"/>
            <a:r>
              <a:rPr lang="en-US" dirty="0"/>
              <a:t>Presentation Date</a:t>
            </a:r>
          </a:p>
        </p:txBody>
      </p:sp>
      <p:pic>
        <p:nvPicPr>
          <p:cNvPr id="4" name="Picture 3" descr="A black and white sign with white text&#10;&#10;Description automatically generated"/>
          <p:cNvPicPr>
            <a:picLocks noChangeAspect="1"/>
          </p:cNvPicPr>
          <p:nvPr userDrawn="1"/>
        </p:nvPicPr>
        <p:blipFill>
          <a:blip r:embed="rId2"/>
          <a:stretch>
            <a:fillRect/>
          </a:stretch>
        </p:blipFill>
        <p:spPr>
          <a:xfrm>
            <a:off x="1382184" y="736058"/>
            <a:ext cx="4713818" cy="1086635"/>
          </a:xfrm>
          <a:prstGeom prst="rect">
            <a:avLst/>
          </a:prstGeom>
        </p:spPr>
      </p:pic>
      <p:sp>
        <p:nvSpPr>
          <p:cNvPr id="2" name="Slide Number Placeholder 10"/>
          <p:cNvSpPr>
            <a:spLocks noGrp="1"/>
          </p:cNvSpPr>
          <p:nvPr>
            <p:ph type="sldNum" sz="quarter" idx="4"/>
          </p:nvPr>
        </p:nvSpPr>
        <p:spPr>
          <a:xfrm>
            <a:off x="11288098" y="6423258"/>
            <a:ext cx="685800" cy="434742"/>
          </a:xfrm>
          <a:prstGeom prst="rect">
            <a:avLst/>
          </a:prstGeom>
        </p:spPr>
        <p:txBody>
          <a:bodyPr vert="horz" lIns="91440" tIns="45720" rIns="91440" bIns="45720" rtlCol="0" anchor="ctr"/>
          <a:lstStyle>
            <a:lvl1pPr algn="r">
              <a:defRPr sz="1600">
                <a:solidFill>
                  <a:srgbClr val="005094"/>
                </a:solidFill>
              </a:defRPr>
            </a:lvl1pPr>
          </a:lstStyle>
          <a:p>
            <a:fld id="{4B327F5A-7D8F-4012-9A1A-2197D74A174F}" type="slidenum">
              <a:rPr lang="en-IN" smtClean="0"/>
              <a:t>‹#›</a:t>
            </a:fld>
            <a:endParaRPr lang="en-IN" dirty="0"/>
          </a:p>
        </p:txBody>
      </p:sp>
    </p:spTree>
    <p:extLst>
      <p:ext uri="{BB962C8B-B14F-4D97-AF65-F5344CB8AC3E}">
        <p14:creationId xmlns:p14="http://schemas.microsoft.com/office/powerpoint/2010/main" val="208016573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 Only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61E00C-A024-71C3-971F-1AFA495F9903}"/>
              </a:ext>
            </a:extLst>
          </p:cNvPr>
          <p:cNvSpPr>
            <a:spLocks noGrp="1"/>
          </p:cNvSpPr>
          <p:nvPr>
            <p:ph type="title"/>
          </p:nvPr>
        </p:nvSpPr>
        <p:spPr>
          <a:xfrm>
            <a:off x="590350" y="198319"/>
            <a:ext cx="11133221" cy="677108"/>
          </a:xfrm>
        </p:spPr>
        <p:txBody>
          <a:bodyPr anchor="ctr"/>
          <a:lstStyle>
            <a:lvl1pPr algn="l">
              <a:lnSpc>
                <a:spcPct val="100000"/>
              </a:lnSpc>
              <a:defRPr>
                <a:solidFill>
                  <a:srgbClr val="005094"/>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590350" y="1596573"/>
            <a:ext cx="11133221" cy="4550763"/>
          </a:xfrm>
        </p:spPr>
        <p:txBody>
          <a:bodyPr/>
          <a:lstStyle>
            <a:lvl1pPr marL="224361" indent="-224361">
              <a:buClr>
                <a:srgbClr val="005094"/>
              </a:buClr>
              <a:buFont typeface="Wingdings" panose="05000000000000000000" pitchFamily="2" charset="2"/>
              <a:buChar char="§"/>
              <a:defRPr lang="en-US" sz="2800" b="0" kern="1200" dirty="0">
                <a:solidFill>
                  <a:srgbClr val="525252"/>
                </a:solidFill>
                <a:latin typeface="+mn-lt"/>
                <a:ea typeface="Roboto" panose="02000000000000000000" pitchFamily="2" charset="0"/>
                <a:cs typeface="Roboto" panose="02000000000000000000" pitchFamily="2" charset="0"/>
              </a:defRPr>
            </a:lvl1pPr>
            <a:lvl2pPr marL="609585" indent="-302676">
              <a:buClr>
                <a:srgbClr val="005094"/>
              </a:buClr>
              <a:buFont typeface="Arial" panose="020B0604020202020204" pitchFamily="34" charset="0"/>
              <a:buChar char="•"/>
              <a:defRPr sz="2800"/>
            </a:lvl2pPr>
            <a:lvl3pPr marL="990575" indent="-302676">
              <a:buClr>
                <a:srgbClr val="005094"/>
              </a:buClr>
              <a:buFont typeface="Arial" panose="020B0604020202020204" pitchFamily="34" charset="0"/>
              <a:buChar char="•"/>
              <a:defRPr sz="2800"/>
            </a:lvl3pPr>
            <a:lvl4pPr marL="1371566" indent="-304792">
              <a:buClr>
                <a:srgbClr val="005094"/>
              </a:buClr>
              <a:buFont typeface="Arial" panose="020B0604020202020204" pitchFamily="34" charset="0"/>
              <a:buChar char="•"/>
              <a:defRPr sz="2800"/>
            </a:lvl4pPr>
            <a:lvl5pPr marL="1750440" indent="-302676">
              <a:buClr>
                <a:srgbClr val="005094"/>
              </a:buClr>
              <a:buFont typeface="Arial" panose="020B0604020202020204" pitchFamily="34" charset="0"/>
              <a:buChar char="•"/>
              <a:defRPr sz="28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5">
            <a:extLst>
              <a:ext uri="{FF2B5EF4-FFF2-40B4-BE49-F238E27FC236}">
                <a16:creationId xmlns:a16="http://schemas.microsoft.com/office/drawing/2014/main" id="{F5B61543-7882-6964-E3B2-96834DF582BF}"/>
              </a:ext>
            </a:extLst>
          </p:cNvPr>
          <p:cNvSpPr>
            <a:spLocks noGrp="1"/>
          </p:cNvSpPr>
          <p:nvPr>
            <p:ph type="body" sz="quarter" idx="12" hasCustomPrompt="1"/>
          </p:nvPr>
        </p:nvSpPr>
        <p:spPr>
          <a:xfrm>
            <a:off x="590350" y="922171"/>
            <a:ext cx="11133221" cy="521728"/>
          </a:xfrm>
        </p:spPr>
        <p:txBody>
          <a:bodyPr/>
          <a:lstStyle>
            <a:lvl1pPr marL="0" indent="0">
              <a:buNone/>
              <a:defRPr sz="3200" b="0" baseline="0">
                <a:latin typeface="+mj-lt"/>
              </a:defRPr>
            </a:lvl1pPr>
          </a:lstStyle>
          <a:p>
            <a:pPr marL="0" marR="0" lvl="0" indent="0" algn="l" defTabSz="1219170" rtl="0" eaLnBrk="1" fontAlgn="auto" latinLnBrk="0" hangingPunct="1">
              <a:lnSpc>
                <a:spcPct val="100000"/>
              </a:lnSpc>
              <a:spcBef>
                <a:spcPts val="1333"/>
              </a:spcBef>
              <a:spcAft>
                <a:spcPts val="0"/>
              </a:spcAft>
              <a:buClr>
                <a:srgbClr val="005094"/>
              </a:buClr>
              <a:buSzTx/>
              <a:buFont typeface="Wingdings" panose="05000000000000000000" pitchFamily="2" charset="2"/>
              <a:buNone/>
              <a:tabLst/>
              <a:defRPr/>
            </a:pPr>
            <a:r>
              <a:rPr lang="en-US" dirty="0"/>
              <a:t>Subhead Arial 24 pt</a:t>
            </a:r>
          </a:p>
        </p:txBody>
      </p:sp>
      <p:sp>
        <p:nvSpPr>
          <p:cNvPr id="8" name="Slide Number Placeholder 7">
            <a:extLst>
              <a:ext uri="{FF2B5EF4-FFF2-40B4-BE49-F238E27FC236}">
                <a16:creationId xmlns:a16="http://schemas.microsoft.com/office/drawing/2014/main" id="{16B1CD1D-46EF-C274-B1E4-D70331800E05}"/>
              </a:ext>
            </a:extLst>
          </p:cNvPr>
          <p:cNvSpPr>
            <a:spLocks noGrp="1"/>
          </p:cNvSpPr>
          <p:nvPr>
            <p:ph type="sldNum" sz="quarter" idx="13"/>
          </p:nvPr>
        </p:nvSpPr>
        <p:spPr>
          <a:xfrm>
            <a:off x="11380671" y="6479284"/>
            <a:ext cx="685800" cy="434741"/>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496585521"/>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5782B-091A-4272-9F2A-1CD009B6A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D0CE48-A47A-49C3-BB13-E27358AFCC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D002C9-674B-4A81-B4F3-7F49FB35C1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F55808-EE75-4C84-ACF3-1BBC37A74EF5}" type="datetimeFigureOut">
              <a:rPr lang="en-IN" smtClean="0"/>
              <a:t>25-10-2025</a:t>
            </a:fld>
            <a:endParaRPr lang="en-IN"/>
          </a:p>
        </p:txBody>
      </p:sp>
      <p:sp>
        <p:nvSpPr>
          <p:cNvPr id="5" name="Footer Placeholder 4">
            <a:extLst>
              <a:ext uri="{FF2B5EF4-FFF2-40B4-BE49-F238E27FC236}">
                <a16:creationId xmlns:a16="http://schemas.microsoft.com/office/drawing/2014/main" id="{16CF681D-2125-4FA4-A43A-706E03C292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83009E-A45F-494F-81DA-772FFA385E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D7697B-2A97-46D9-B862-83604298D16A}" type="slidenum">
              <a:rPr lang="en-IN" smtClean="0"/>
              <a:t>‹#›</a:t>
            </a:fld>
            <a:endParaRPr lang="en-IN"/>
          </a:p>
        </p:txBody>
      </p:sp>
    </p:spTree>
    <p:extLst>
      <p:ext uri="{BB962C8B-B14F-4D97-AF65-F5344CB8AC3E}">
        <p14:creationId xmlns:p14="http://schemas.microsoft.com/office/powerpoint/2010/main" val="2545218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383030" y="3545526"/>
            <a:ext cx="9425940" cy="948267"/>
          </a:xfrm>
        </p:spPr>
        <p:txBody>
          <a:bodyPr/>
          <a:lstStyle/>
          <a:p>
            <a:r>
              <a:rPr sz="4000" dirty="0">
                <a:solidFill>
                  <a:schemeClr val="tx1"/>
                </a:solidFill>
                <a:sym typeface="+mn-ea"/>
              </a:rPr>
              <a:t>  </a:t>
            </a:r>
            <a:endParaRPr lang="en-US" sz="4000" dirty="0">
              <a:solidFill>
                <a:schemeClr val="tx1"/>
              </a:solidFill>
              <a:sym typeface="+mn-ea"/>
            </a:endParaRPr>
          </a:p>
          <a:p>
            <a:endParaRPr sz="2333" dirty="0">
              <a:solidFill>
                <a:schemeClr val="tx1"/>
              </a:solidFill>
              <a:latin typeface="Arial" panose="020B0604020202020204" pitchFamily="34" charset="0"/>
              <a:cs typeface="Arial" panose="020B0604020202020204" pitchFamily="34" charset="0"/>
              <a:sym typeface="+mn-ea"/>
            </a:endParaRPr>
          </a:p>
          <a:p>
            <a:r>
              <a:rPr dirty="0">
                <a:solidFill>
                  <a:schemeClr val="tx1"/>
                </a:solidFill>
                <a:sym typeface="+mn-ea"/>
              </a:rPr>
              <a:t> </a:t>
            </a:r>
            <a:endParaRPr lang="en-US" altLang="en-US" sz="3000" dirty="0">
              <a:solidFill>
                <a:schemeClr val="tx1"/>
              </a:solidFill>
            </a:endParaRPr>
          </a:p>
        </p:txBody>
      </p:sp>
      <p:sp>
        <p:nvSpPr>
          <p:cNvPr id="6" name="Text Placeholder 5"/>
          <p:cNvSpPr>
            <a:spLocks noGrp="1"/>
          </p:cNvSpPr>
          <p:nvPr>
            <p:ph type="body" sz="quarter" idx="10"/>
          </p:nvPr>
        </p:nvSpPr>
        <p:spPr>
          <a:xfrm>
            <a:off x="1127708" y="4845586"/>
            <a:ext cx="9425940" cy="1696720"/>
          </a:xfrm>
        </p:spPr>
        <p:txBody>
          <a:bodyPr>
            <a:normAutofit/>
          </a:bodyPr>
          <a:lstStyle/>
          <a:p>
            <a:pPr algn="l"/>
            <a:endParaRPr lang="en-US" dirty="0">
              <a:solidFill>
                <a:srgbClr val="0070C0"/>
              </a:solidFill>
              <a:latin typeface="+mj-lt"/>
            </a:endParaRPr>
          </a:p>
          <a:p>
            <a:pPr algn="l"/>
            <a:r>
              <a:rPr lang="en-US" dirty="0">
                <a:solidFill>
                  <a:srgbClr val="0070C0"/>
                </a:solidFill>
                <a:latin typeface="+mj-lt"/>
              </a:rPr>
              <a:t>Presented By: Abhinav Teja Thota </a:t>
            </a:r>
          </a:p>
          <a:p>
            <a:pPr algn="l"/>
            <a:r>
              <a:rPr lang="en-US" dirty="0">
                <a:solidFill>
                  <a:srgbClr val="0070C0"/>
                </a:solidFill>
                <a:latin typeface="+mj-lt"/>
              </a:rPr>
              <a:t>Roll No: 23951A1204</a:t>
            </a:r>
          </a:p>
        </p:txBody>
      </p:sp>
      <p:sp>
        <p:nvSpPr>
          <p:cNvPr id="7" name="Slide Number Placeholder 6"/>
          <p:cNvSpPr>
            <a:spLocks noGrp="1"/>
          </p:cNvSpPr>
          <p:nvPr>
            <p:ph type="sldNum" sz="quarter" idx="4"/>
          </p:nvPr>
        </p:nvSpPr>
        <p:spPr>
          <a:xfrm>
            <a:off x="11288098" y="6423258"/>
            <a:ext cx="685800" cy="434742"/>
          </a:xfrm>
        </p:spPr>
        <p:txBody>
          <a:bodyPr/>
          <a:lstStyle/>
          <a:p>
            <a:fld id="{4B327F5A-7D8F-4012-9A1A-2197D74A174F}" type="slidenum">
              <a:rPr lang="en-IN" smtClean="0"/>
              <a:t>1</a:t>
            </a:fld>
            <a:endParaRPr lang="en-IN" dirty="0"/>
          </a:p>
        </p:txBody>
      </p:sp>
      <p:sp>
        <p:nvSpPr>
          <p:cNvPr id="2" name="Rectangle 1">
            <a:extLst>
              <a:ext uri="{FF2B5EF4-FFF2-40B4-BE49-F238E27FC236}">
                <a16:creationId xmlns:a16="http://schemas.microsoft.com/office/drawing/2014/main" id="{EA3B9906-0E2A-4540-8054-61B43D177F40}"/>
              </a:ext>
            </a:extLst>
          </p:cNvPr>
          <p:cNvSpPr/>
          <p:nvPr/>
        </p:nvSpPr>
        <p:spPr>
          <a:xfrm>
            <a:off x="1127708" y="3776839"/>
            <a:ext cx="10160389" cy="605230"/>
          </a:xfrm>
          <a:prstGeom prst="rect">
            <a:avLst/>
          </a:prstGeom>
        </p:spPr>
        <p:txBody>
          <a:bodyPr wrap="square">
            <a:spAutoFit/>
          </a:bodyPr>
          <a:lstStyle/>
          <a:p>
            <a:r>
              <a:rPr lang="en-US" sz="3333" b="1" dirty="0">
                <a:sym typeface="+mn-ea"/>
              </a:rPr>
              <a:t>     Project Title: Employee Management System</a:t>
            </a:r>
            <a:endParaRPr lang="en-IN" sz="3333" b="1" dirty="0"/>
          </a:p>
        </p:txBody>
      </p:sp>
      <p:sp>
        <p:nvSpPr>
          <p:cNvPr id="4" name="TextBox 3">
            <a:extLst>
              <a:ext uri="{FF2B5EF4-FFF2-40B4-BE49-F238E27FC236}">
                <a16:creationId xmlns:a16="http://schemas.microsoft.com/office/drawing/2014/main" id="{1BCCBCA2-3AD4-49FB-926E-89511AC7D00C}"/>
              </a:ext>
            </a:extLst>
          </p:cNvPr>
          <p:cNvSpPr txBox="1"/>
          <p:nvPr/>
        </p:nvSpPr>
        <p:spPr>
          <a:xfrm>
            <a:off x="1676400" y="2958353"/>
            <a:ext cx="8534400" cy="600164"/>
          </a:xfrm>
          <a:prstGeom prst="rect">
            <a:avLst/>
          </a:prstGeom>
          <a:noFill/>
        </p:spPr>
        <p:txBody>
          <a:bodyPr wrap="square" rtlCol="0">
            <a:spAutoFit/>
          </a:bodyPr>
          <a:lstStyle/>
          <a:p>
            <a:r>
              <a:rPr lang="en-US" sz="3300" b="1" dirty="0"/>
              <a:t>                        JAVA FULL STACK</a:t>
            </a:r>
            <a:endParaRPr lang="en-IN" sz="3300" b="1"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3"/>
          </p:nvPr>
        </p:nvSpPr>
        <p:spPr/>
        <p:txBody>
          <a:bodyPr/>
          <a:lstStyle/>
          <a:p>
            <a:fld id="{4B327F5A-7D8F-4012-9A1A-2197D74A174F}" type="slidenum">
              <a:rPr lang="en-IN" smtClean="0"/>
              <a:pPr/>
              <a:t>2</a:t>
            </a:fld>
            <a:endParaRPr lang="en-IN" dirty="0"/>
          </a:p>
        </p:txBody>
      </p:sp>
      <p:sp>
        <p:nvSpPr>
          <p:cNvPr id="6" name="TextBox 5"/>
          <p:cNvSpPr txBox="1"/>
          <p:nvPr/>
        </p:nvSpPr>
        <p:spPr bwMode="auto">
          <a:xfrm>
            <a:off x="799851" y="327724"/>
            <a:ext cx="5296149" cy="656655"/>
          </a:xfrm>
          <a:prstGeom prst="rect">
            <a:avLst/>
          </a:prstGeom>
          <a:noFill/>
          <a:ln w="19050" algn="ctr">
            <a:noFill/>
            <a:miter lim="800000"/>
            <a:headEnd/>
            <a:tailEnd/>
          </a:ln>
        </p:spPr>
        <p:txBody>
          <a:bodyPr wrap="square" lIns="0" tIns="0" rIns="0" bIns="0" rtlCol="0">
            <a:spAutoFit/>
          </a:bodyPr>
          <a:lstStyle/>
          <a:p>
            <a:r>
              <a:rPr lang="en-US" sz="4267" b="1" dirty="0"/>
              <a:t>Abstract</a:t>
            </a:r>
          </a:p>
        </p:txBody>
      </p:sp>
      <p:sp>
        <p:nvSpPr>
          <p:cNvPr id="7" name="Rectangle 3">
            <a:extLst>
              <a:ext uri="{FF2B5EF4-FFF2-40B4-BE49-F238E27FC236}">
                <a16:creationId xmlns:a16="http://schemas.microsoft.com/office/drawing/2014/main" id="{A3B4CC3C-5CEA-446B-AB96-DB7C65E796F6}"/>
              </a:ext>
            </a:extLst>
          </p:cNvPr>
          <p:cNvSpPr>
            <a:spLocks noChangeArrowheads="1"/>
          </p:cNvSpPr>
          <p:nvPr/>
        </p:nvSpPr>
        <p:spPr bwMode="auto">
          <a:xfrm>
            <a:off x="0" y="-246220"/>
            <a:ext cx="61967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buFontTx/>
              <a:buChar char="•"/>
            </a:pPr>
            <a:endParaRPr lang="en-US" altLang="en-US" sz="2400" dirty="0">
              <a:latin typeface="Arial" panose="020B0604020202020204" pitchFamily="34" charset="0"/>
            </a:endParaRPr>
          </a:p>
        </p:txBody>
      </p:sp>
      <p:sp>
        <p:nvSpPr>
          <p:cNvPr id="8" name="TextBox 7">
            <a:extLst>
              <a:ext uri="{FF2B5EF4-FFF2-40B4-BE49-F238E27FC236}">
                <a16:creationId xmlns:a16="http://schemas.microsoft.com/office/drawing/2014/main" id="{687065F4-A32E-4195-993A-392A59D3F5C3}"/>
              </a:ext>
            </a:extLst>
          </p:cNvPr>
          <p:cNvSpPr txBox="1"/>
          <p:nvPr/>
        </p:nvSpPr>
        <p:spPr bwMode="auto">
          <a:xfrm>
            <a:off x="799852" y="1705451"/>
            <a:ext cx="9846946" cy="3323987"/>
          </a:xfrm>
          <a:prstGeom prst="rect">
            <a:avLst/>
          </a:prstGeom>
          <a:noFill/>
          <a:ln w="19050" algn="ctr">
            <a:noFill/>
            <a:miter lim="800000"/>
            <a:headEnd/>
            <a:tailEnd/>
          </a:ln>
        </p:spPr>
        <p:txBody>
          <a:bodyPr wrap="square" lIns="0" tIns="0" rIns="0" bIns="0" rtlCol="0">
            <a:spAutoFit/>
          </a:bodyPr>
          <a:lstStyle/>
          <a:p>
            <a:pPr algn="just"/>
            <a:r>
              <a:rPr lang="en-US" sz="2400" dirty="0"/>
              <a:t>The </a:t>
            </a:r>
            <a:r>
              <a:rPr lang="en-US" sz="2400" b="1" dirty="0"/>
              <a:t>Employee Management System (EMS)</a:t>
            </a:r>
            <a:r>
              <a:rPr lang="en-US" sz="2400" dirty="0"/>
              <a:t> is a full-stack web application designed to simplify and automate employee data handling within an organization. It provides functionalities such as adding, updating, viewing, and deleting employee details, along with managing departments and roles.</a:t>
            </a:r>
          </a:p>
          <a:p>
            <a:pPr algn="just"/>
            <a:br>
              <a:rPr lang="en-US" sz="2400" dirty="0"/>
            </a:br>
            <a:r>
              <a:rPr lang="en-US" sz="2400" dirty="0"/>
              <a:t>Built with </a:t>
            </a:r>
            <a:r>
              <a:rPr lang="en-US" sz="2400" b="1" dirty="0"/>
              <a:t>React.js</a:t>
            </a:r>
            <a:r>
              <a:rPr lang="en-US" sz="2400" dirty="0"/>
              <a:t> for an interactive and responsive user interface and </a:t>
            </a:r>
            <a:r>
              <a:rPr lang="en-US" sz="2400" b="1" dirty="0"/>
              <a:t>Spring Boot (Maven build)</a:t>
            </a:r>
            <a:r>
              <a:rPr lang="en-US" sz="2400" dirty="0"/>
              <a:t> for a robust backend, the system ensures efficient data flow and management. It helps HR and administrators maintain accurate employee records, improve operational efficiency, and reduce manual errors.</a:t>
            </a:r>
          </a:p>
        </p:txBody>
      </p:sp>
      <p:cxnSp>
        <p:nvCxnSpPr>
          <p:cNvPr id="11" name="Straight Connector 10">
            <a:extLst>
              <a:ext uri="{FF2B5EF4-FFF2-40B4-BE49-F238E27FC236}">
                <a16:creationId xmlns:a16="http://schemas.microsoft.com/office/drawing/2014/main" id="{4EAD4D02-11AF-4C26-BABD-3A5695C9DE7C}"/>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13" name="Picture 12">
            <a:extLst>
              <a:ext uri="{FF2B5EF4-FFF2-40B4-BE49-F238E27FC236}">
                <a16:creationId xmlns:a16="http://schemas.microsoft.com/office/drawing/2014/main" id="{AEC6AFF0-C713-44C7-8E8D-09FC9C525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spTree>
    <p:extLst>
      <p:ext uri="{BB962C8B-B14F-4D97-AF65-F5344CB8AC3E}">
        <p14:creationId xmlns:p14="http://schemas.microsoft.com/office/powerpoint/2010/main" val="172096084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3"/>
          </p:nvPr>
        </p:nvSpPr>
        <p:spPr/>
        <p:txBody>
          <a:bodyPr/>
          <a:lstStyle/>
          <a:p>
            <a:fld id="{4B327F5A-7D8F-4012-9A1A-2197D74A174F}" type="slidenum">
              <a:rPr lang="en-IN" smtClean="0"/>
              <a:pPr/>
              <a:t>3</a:t>
            </a:fld>
            <a:endParaRPr lang="en-IN" dirty="0"/>
          </a:p>
        </p:txBody>
      </p:sp>
      <p:sp>
        <p:nvSpPr>
          <p:cNvPr id="6" name="TextBox 5"/>
          <p:cNvSpPr txBox="1"/>
          <p:nvPr/>
        </p:nvSpPr>
        <p:spPr bwMode="auto">
          <a:xfrm>
            <a:off x="799851" y="534572"/>
            <a:ext cx="5296149" cy="656655"/>
          </a:xfrm>
          <a:prstGeom prst="rect">
            <a:avLst/>
          </a:prstGeom>
          <a:noFill/>
          <a:ln w="19050" algn="ctr">
            <a:noFill/>
            <a:miter lim="800000"/>
            <a:headEnd/>
            <a:tailEnd/>
          </a:ln>
        </p:spPr>
        <p:txBody>
          <a:bodyPr wrap="square" lIns="0" tIns="0" rIns="0" bIns="0" rtlCol="0">
            <a:spAutoFit/>
          </a:bodyPr>
          <a:lstStyle/>
          <a:p>
            <a:r>
              <a:rPr lang="en-US" sz="4267" b="1" dirty="0"/>
              <a:t>Literature Survey</a:t>
            </a:r>
          </a:p>
        </p:txBody>
      </p:sp>
      <p:sp>
        <p:nvSpPr>
          <p:cNvPr id="7" name="Rectangle 3">
            <a:extLst>
              <a:ext uri="{FF2B5EF4-FFF2-40B4-BE49-F238E27FC236}">
                <a16:creationId xmlns:a16="http://schemas.microsoft.com/office/drawing/2014/main" id="{A3B4CC3C-5CEA-446B-AB96-DB7C65E796F6}"/>
              </a:ext>
            </a:extLst>
          </p:cNvPr>
          <p:cNvSpPr>
            <a:spLocks noChangeArrowheads="1"/>
          </p:cNvSpPr>
          <p:nvPr/>
        </p:nvSpPr>
        <p:spPr bwMode="auto">
          <a:xfrm>
            <a:off x="0" y="-246220"/>
            <a:ext cx="61967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buFontTx/>
              <a:buChar char="•"/>
            </a:pPr>
            <a:endParaRPr lang="en-US" altLang="en-US" sz="2400" dirty="0">
              <a:latin typeface="Arial" panose="020B0604020202020204" pitchFamily="34" charset="0"/>
            </a:endParaRPr>
          </a:p>
        </p:txBody>
      </p:sp>
      <p:sp>
        <p:nvSpPr>
          <p:cNvPr id="8" name="TextBox 7">
            <a:extLst>
              <a:ext uri="{FF2B5EF4-FFF2-40B4-BE49-F238E27FC236}">
                <a16:creationId xmlns:a16="http://schemas.microsoft.com/office/drawing/2014/main" id="{687065F4-A32E-4195-993A-392A59D3F5C3}"/>
              </a:ext>
            </a:extLst>
          </p:cNvPr>
          <p:cNvSpPr txBox="1"/>
          <p:nvPr/>
        </p:nvSpPr>
        <p:spPr bwMode="auto">
          <a:xfrm rot="10800000" flipV="1">
            <a:off x="799851" y="1696914"/>
            <a:ext cx="10331975" cy="4062651"/>
          </a:xfrm>
          <a:prstGeom prst="rect">
            <a:avLst/>
          </a:prstGeom>
          <a:noFill/>
          <a:ln w="19050" algn="ctr">
            <a:noFill/>
            <a:miter lim="800000"/>
            <a:headEnd/>
            <a:tailEnd/>
          </a:ln>
        </p:spPr>
        <p:txBody>
          <a:bodyPr wrap="square" lIns="0" tIns="0" rIns="0" bIns="0" rtlCol="0">
            <a:spAutoFit/>
          </a:bodyPr>
          <a:lstStyle/>
          <a:p>
            <a:r>
              <a:rPr lang="en-US" sz="2400" b="1" dirty="0"/>
              <a:t>Existing Solutions:</a:t>
            </a:r>
            <a:br>
              <a:rPr lang="en-US" sz="2400" dirty="0"/>
            </a:br>
            <a:r>
              <a:rPr lang="en-US" sz="2400" dirty="0"/>
              <a:t>Many organizations still use manual or outdated software for employee record management, leading to data redundancy, slow processing, and security issues. Lack of integration between frontend and backend systems causes inconsistencies and inefficiencies.</a:t>
            </a:r>
          </a:p>
          <a:p>
            <a:r>
              <a:rPr lang="en-US" sz="2400" b="1" dirty="0"/>
              <a:t>Proposed Solution:</a:t>
            </a:r>
            <a:br>
              <a:rPr lang="en-US" sz="2400" dirty="0"/>
            </a:br>
            <a:r>
              <a:rPr lang="en-US" sz="2400" dirty="0"/>
              <a:t>Develop an </a:t>
            </a:r>
            <a:r>
              <a:rPr lang="en-US" sz="2400" b="1" dirty="0"/>
              <a:t>integrated Employee Management System</a:t>
            </a:r>
            <a:r>
              <a:rPr lang="en-US" sz="2400" dirty="0"/>
              <a:t> using React.js and Spring Boot to manage employee information efficiently. The application will support CRUD operations, secure data storage, and easy scalability. Using RESTful APIs, it ensures smooth communication between frontend and backend. The use of Maven simplifies build and dependency management for the backend.</a:t>
            </a:r>
          </a:p>
        </p:txBody>
      </p:sp>
      <p:cxnSp>
        <p:nvCxnSpPr>
          <p:cNvPr id="11" name="Straight Connector 10">
            <a:extLst>
              <a:ext uri="{FF2B5EF4-FFF2-40B4-BE49-F238E27FC236}">
                <a16:creationId xmlns:a16="http://schemas.microsoft.com/office/drawing/2014/main" id="{4EAD4D02-11AF-4C26-BABD-3A5695C9DE7C}"/>
              </a:ext>
            </a:extLst>
          </p:cNvPr>
          <p:cNvCxnSpPr/>
          <p:nvPr/>
        </p:nvCxnSpPr>
        <p:spPr>
          <a:xfrm>
            <a:off x="0" y="1281953"/>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451571BA-6849-4CE7-9B14-359803185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spTree>
    <p:extLst>
      <p:ext uri="{BB962C8B-B14F-4D97-AF65-F5344CB8AC3E}">
        <p14:creationId xmlns:p14="http://schemas.microsoft.com/office/powerpoint/2010/main" val="17574675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3"/>
          </p:nvPr>
        </p:nvSpPr>
        <p:spPr/>
        <p:txBody>
          <a:bodyPr/>
          <a:lstStyle/>
          <a:p>
            <a:fld id="{4B327F5A-7D8F-4012-9A1A-2197D74A174F}" type="slidenum">
              <a:rPr lang="en-IN" smtClean="0"/>
              <a:pPr/>
              <a:t>4</a:t>
            </a:fld>
            <a:endParaRPr lang="en-IN" dirty="0"/>
          </a:p>
        </p:txBody>
      </p:sp>
      <p:sp>
        <p:nvSpPr>
          <p:cNvPr id="6" name="TextBox 5"/>
          <p:cNvSpPr txBox="1"/>
          <p:nvPr/>
        </p:nvSpPr>
        <p:spPr bwMode="auto">
          <a:xfrm>
            <a:off x="799851" y="451793"/>
            <a:ext cx="5296149" cy="656655"/>
          </a:xfrm>
          <a:prstGeom prst="rect">
            <a:avLst/>
          </a:prstGeom>
          <a:noFill/>
          <a:ln w="19050" algn="ctr">
            <a:noFill/>
            <a:miter lim="800000"/>
            <a:headEnd/>
            <a:tailEnd/>
          </a:ln>
        </p:spPr>
        <p:txBody>
          <a:bodyPr wrap="square" lIns="0" tIns="0" rIns="0" bIns="0" rtlCol="0">
            <a:spAutoFit/>
          </a:bodyPr>
          <a:lstStyle/>
          <a:p>
            <a:r>
              <a:rPr lang="en-US" sz="4267" b="1" dirty="0"/>
              <a:t>Technologies</a:t>
            </a:r>
          </a:p>
        </p:txBody>
      </p:sp>
      <p:sp>
        <p:nvSpPr>
          <p:cNvPr id="7" name="Rectangle 3">
            <a:extLst>
              <a:ext uri="{FF2B5EF4-FFF2-40B4-BE49-F238E27FC236}">
                <a16:creationId xmlns:a16="http://schemas.microsoft.com/office/drawing/2014/main" id="{A3B4CC3C-5CEA-446B-AB96-DB7C65E796F6}"/>
              </a:ext>
            </a:extLst>
          </p:cNvPr>
          <p:cNvSpPr>
            <a:spLocks noChangeArrowheads="1"/>
          </p:cNvSpPr>
          <p:nvPr/>
        </p:nvSpPr>
        <p:spPr bwMode="auto">
          <a:xfrm>
            <a:off x="0" y="0"/>
            <a:ext cx="61967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buFontTx/>
              <a:buChar char="•"/>
            </a:pPr>
            <a:endParaRPr lang="en-US" altLang="en-US" sz="2400" dirty="0">
              <a:latin typeface="Arial" panose="020B0604020202020204" pitchFamily="34" charset="0"/>
            </a:endParaRPr>
          </a:p>
        </p:txBody>
      </p:sp>
      <p:sp>
        <p:nvSpPr>
          <p:cNvPr id="8" name="TextBox 7">
            <a:extLst>
              <a:ext uri="{FF2B5EF4-FFF2-40B4-BE49-F238E27FC236}">
                <a16:creationId xmlns:a16="http://schemas.microsoft.com/office/drawing/2014/main" id="{687065F4-A32E-4195-993A-392A59D3F5C3}"/>
              </a:ext>
            </a:extLst>
          </p:cNvPr>
          <p:cNvSpPr txBox="1"/>
          <p:nvPr/>
        </p:nvSpPr>
        <p:spPr bwMode="auto">
          <a:xfrm>
            <a:off x="799851" y="1458651"/>
            <a:ext cx="10257401" cy="4431983"/>
          </a:xfrm>
          <a:prstGeom prst="rect">
            <a:avLst/>
          </a:prstGeom>
          <a:noFill/>
          <a:ln w="19050" algn="ctr">
            <a:noFill/>
            <a:miter lim="800000"/>
            <a:headEnd/>
            <a:tailEnd/>
          </a:ln>
        </p:spPr>
        <p:txBody>
          <a:bodyPr wrap="square" lIns="0" tIns="0" rIns="0" bIns="0" rtlCol="0">
            <a:spAutoFit/>
          </a:bodyPr>
          <a:lstStyle/>
          <a:p>
            <a:r>
              <a:rPr lang="en-US" sz="2400" b="1" dirty="0"/>
              <a:t>Frontend:</a:t>
            </a:r>
            <a:endParaRPr lang="en-US" sz="2400" dirty="0"/>
          </a:p>
          <a:p>
            <a:r>
              <a:rPr lang="en-US" sz="2400" b="1" dirty="0"/>
              <a:t>React.js</a:t>
            </a:r>
            <a:r>
              <a:rPr lang="en-US" sz="2400" dirty="0"/>
              <a:t> – For creating a dynamic and user-friendly interface.</a:t>
            </a:r>
          </a:p>
          <a:p>
            <a:r>
              <a:rPr lang="en-US" sz="2400" b="1" dirty="0"/>
              <a:t>JavaScript</a:t>
            </a:r>
            <a:r>
              <a:rPr lang="en-US" sz="2400" dirty="0"/>
              <a:t> – To add interactivity and handle frontend logic.</a:t>
            </a:r>
          </a:p>
          <a:p>
            <a:r>
              <a:rPr lang="en-US" sz="2400" b="1" dirty="0"/>
              <a:t>CSS / Tailwind CSS</a:t>
            </a:r>
            <a:r>
              <a:rPr lang="en-US" sz="2400" dirty="0"/>
              <a:t> – For responsive design and styling.</a:t>
            </a:r>
          </a:p>
          <a:p>
            <a:r>
              <a:rPr lang="en-US" sz="2400" b="1" dirty="0"/>
              <a:t>Backend:</a:t>
            </a:r>
            <a:endParaRPr lang="en-US" sz="2400" dirty="0"/>
          </a:p>
          <a:p>
            <a:r>
              <a:rPr lang="en-US" sz="2400" b="1" dirty="0"/>
              <a:t>Spring Boot</a:t>
            </a:r>
            <a:r>
              <a:rPr lang="en-US" sz="2400" dirty="0"/>
              <a:t> – For developing RESTful APIs and managing backend logic efficiently.</a:t>
            </a:r>
          </a:p>
          <a:p>
            <a:r>
              <a:rPr lang="en-US" sz="2400" b="1" dirty="0"/>
              <a:t>Java</a:t>
            </a:r>
            <a:r>
              <a:rPr lang="en-US" sz="2400" dirty="0"/>
              <a:t> – Core backend language for business logic.</a:t>
            </a:r>
          </a:p>
          <a:p>
            <a:r>
              <a:rPr lang="en-US" sz="2400" b="1" dirty="0"/>
              <a:t>MySQL </a:t>
            </a:r>
            <a:r>
              <a:rPr lang="en-US" sz="2400" dirty="0"/>
              <a:t>– For storing employee data securely.</a:t>
            </a:r>
          </a:p>
          <a:p>
            <a:r>
              <a:rPr lang="en-US" sz="2400" b="1" dirty="0"/>
              <a:t>Build &amp; Tools:</a:t>
            </a:r>
            <a:endParaRPr lang="en-US" sz="2400" dirty="0"/>
          </a:p>
          <a:p>
            <a:r>
              <a:rPr lang="en-US" sz="2400" b="1" dirty="0"/>
              <a:t>Maven</a:t>
            </a:r>
            <a:r>
              <a:rPr lang="en-US" sz="2400" dirty="0"/>
              <a:t> – For dependency management and project build automation.</a:t>
            </a:r>
          </a:p>
          <a:p>
            <a:r>
              <a:rPr lang="en-US" sz="2400" b="1" dirty="0"/>
              <a:t>Postman</a:t>
            </a:r>
            <a:r>
              <a:rPr lang="en-US" sz="2400" dirty="0"/>
              <a:t> – For testing backend APIs.</a:t>
            </a:r>
          </a:p>
          <a:p>
            <a:r>
              <a:rPr lang="en-US" sz="2400" b="1" dirty="0"/>
              <a:t>Git &amp; GitHub</a:t>
            </a:r>
            <a:r>
              <a:rPr lang="en-US" sz="2400" dirty="0"/>
              <a:t> – For version control and collaboration.</a:t>
            </a:r>
          </a:p>
        </p:txBody>
      </p:sp>
      <p:cxnSp>
        <p:nvCxnSpPr>
          <p:cNvPr id="11" name="Straight Connector 10">
            <a:extLst>
              <a:ext uri="{FF2B5EF4-FFF2-40B4-BE49-F238E27FC236}">
                <a16:creationId xmlns:a16="http://schemas.microsoft.com/office/drawing/2014/main" id="{4EAD4D02-11AF-4C26-BABD-3A5695C9DE7C}"/>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AEA31CCF-A761-425D-B1E6-4E852B2F0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spTree>
    <p:extLst>
      <p:ext uri="{BB962C8B-B14F-4D97-AF65-F5344CB8AC3E}">
        <p14:creationId xmlns:p14="http://schemas.microsoft.com/office/powerpoint/2010/main" val="24538019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6DE8-6774-213B-A1E0-FCF3F7293160}"/>
              </a:ext>
            </a:extLst>
          </p:cNvPr>
          <p:cNvSpPr>
            <a:spLocks noGrp="1"/>
          </p:cNvSpPr>
          <p:nvPr>
            <p:ph type="title"/>
          </p:nvPr>
        </p:nvSpPr>
        <p:spPr>
          <a:xfrm>
            <a:off x="590350" y="451590"/>
            <a:ext cx="11133221" cy="677108"/>
          </a:xfrm>
        </p:spPr>
        <p:txBody>
          <a:bodyPr>
            <a:noAutofit/>
          </a:bodyPr>
          <a:lstStyle/>
          <a:p>
            <a:r>
              <a:rPr lang="en-US" sz="4270" b="1" dirty="0">
                <a:solidFill>
                  <a:schemeClr val="tx1"/>
                </a:solidFill>
                <a:latin typeface="+mn-lt"/>
              </a:rPr>
              <a:t>Algorithms</a:t>
            </a:r>
          </a:p>
        </p:txBody>
      </p:sp>
      <p:sp>
        <p:nvSpPr>
          <p:cNvPr id="3" name="Content Placeholder 2">
            <a:extLst>
              <a:ext uri="{FF2B5EF4-FFF2-40B4-BE49-F238E27FC236}">
                <a16:creationId xmlns:a16="http://schemas.microsoft.com/office/drawing/2014/main" id="{083CFB10-2276-41F5-F5A5-BD5B98533032}"/>
              </a:ext>
            </a:extLst>
          </p:cNvPr>
          <p:cNvSpPr>
            <a:spLocks noGrp="1"/>
          </p:cNvSpPr>
          <p:nvPr>
            <p:ph idx="1"/>
          </p:nvPr>
        </p:nvSpPr>
        <p:spPr>
          <a:xfrm>
            <a:off x="590350" y="1596573"/>
            <a:ext cx="11133221" cy="4931447"/>
          </a:xfrm>
        </p:spPr>
        <p:txBody>
          <a:bodyPr>
            <a:noAutofit/>
          </a:bodyPr>
          <a:lstStyle/>
          <a:p>
            <a:pPr marL="0" indent="0">
              <a:spcBef>
                <a:spcPts val="0"/>
              </a:spcBef>
              <a:buNone/>
            </a:pPr>
            <a:r>
              <a:rPr lang="en-US" sz="2400" b="1" dirty="0">
                <a:solidFill>
                  <a:schemeClr val="tx1"/>
                </a:solidFill>
              </a:rPr>
              <a:t>CRUD Operations Algorithm</a:t>
            </a:r>
            <a:endParaRPr lang="en-US" sz="2400" dirty="0">
              <a:solidFill>
                <a:schemeClr val="tx1"/>
              </a:solidFill>
            </a:endParaRPr>
          </a:p>
          <a:p>
            <a:pPr marL="0" indent="0">
              <a:spcBef>
                <a:spcPts val="0"/>
              </a:spcBef>
              <a:buNone/>
            </a:pPr>
            <a:r>
              <a:rPr lang="en-US" sz="2400" dirty="0">
                <a:solidFill>
                  <a:schemeClr val="tx1"/>
                </a:solidFill>
              </a:rPr>
              <a:t>Implemented Create, Read, Update, and Delete operations for managing employee records efficiently. </a:t>
            </a:r>
          </a:p>
          <a:p>
            <a:pPr marL="0" indent="0">
              <a:spcBef>
                <a:spcPts val="0"/>
              </a:spcBef>
              <a:buNone/>
            </a:pPr>
            <a:r>
              <a:rPr lang="en-US" sz="2400" b="1" dirty="0">
                <a:solidFill>
                  <a:schemeClr val="tx1"/>
                </a:solidFill>
              </a:rPr>
              <a:t>Authentication &amp; Authorization Logic</a:t>
            </a:r>
            <a:endParaRPr lang="en-US" sz="2400" dirty="0">
              <a:solidFill>
                <a:schemeClr val="tx1"/>
              </a:solidFill>
            </a:endParaRPr>
          </a:p>
          <a:p>
            <a:pPr marL="0" indent="0">
              <a:spcBef>
                <a:spcPts val="0"/>
              </a:spcBef>
              <a:buNone/>
            </a:pPr>
            <a:r>
              <a:rPr lang="en-US" sz="2400" dirty="0">
                <a:solidFill>
                  <a:schemeClr val="tx1"/>
                </a:solidFill>
              </a:rPr>
              <a:t>Used secure login validation and session handling to ensure only authorized users can access sensitive employee data. Passwords encrypted before storage using hashing techniques</a:t>
            </a:r>
          </a:p>
          <a:p>
            <a:pPr marL="0" indent="0">
              <a:spcBef>
                <a:spcPts val="0"/>
              </a:spcBef>
              <a:buNone/>
            </a:pPr>
            <a:r>
              <a:rPr lang="en-US" sz="2400" b="1" dirty="0">
                <a:solidFill>
                  <a:schemeClr val="tx1"/>
                </a:solidFill>
              </a:rPr>
              <a:t>Search Algorithm</a:t>
            </a:r>
            <a:endParaRPr lang="en-US" sz="2400" dirty="0">
              <a:solidFill>
                <a:schemeClr val="tx1"/>
              </a:solidFill>
            </a:endParaRPr>
          </a:p>
          <a:p>
            <a:pPr marL="0" indent="0">
              <a:spcBef>
                <a:spcPts val="0"/>
              </a:spcBef>
              <a:buNone/>
            </a:pPr>
            <a:r>
              <a:rPr lang="en-US" sz="2400" dirty="0">
                <a:solidFill>
                  <a:schemeClr val="tx1"/>
                </a:solidFill>
              </a:rPr>
              <a:t>Real-time employee search implemented using case-insensitive substring matching.</a:t>
            </a:r>
          </a:p>
          <a:p>
            <a:pPr marL="0" indent="0">
              <a:spcBef>
                <a:spcPts val="0"/>
              </a:spcBef>
              <a:buNone/>
            </a:pPr>
            <a:r>
              <a:rPr lang="en-US" sz="2400" dirty="0">
                <a:solidFill>
                  <a:schemeClr val="tx1"/>
                </a:solidFill>
              </a:rPr>
              <a:t>Efficient lookup through indexed MySQL queries for faster performance.</a:t>
            </a:r>
          </a:p>
          <a:p>
            <a:pPr marL="0" indent="0">
              <a:spcBef>
                <a:spcPts val="0"/>
              </a:spcBef>
              <a:buNone/>
            </a:pPr>
            <a:r>
              <a:rPr lang="en-US" sz="2400" dirty="0">
                <a:solidFill>
                  <a:schemeClr val="tx1"/>
                </a:solidFill>
              </a:rPr>
              <a:t>Implemented using Spring Data JPA’s Pageable interface.</a:t>
            </a:r>
          </a:p>
          <a:p>
            <a:pPr marL="0" indent="0">
              <a:spcBef>
                <a:spcPts val="0"/>
              </a:spcBef>
              <a:buNone/>
            </a:pPr>
            <a:r>
              <a:rPr lang="en-US" sz="2400" b="1" dirty="0">
                <a:solidFill>
                  <a:schemeClr val="tx1"/>
                </a:solidFill>
              </a:rPr>
              <a:t>Error Handling &amp; Validation Logic</a:t>
            </a:r>
            <a:endParaRPr lang="en-US" sz="2400" dirty="0">
              <a:solidFill>
                <a:schemeClr val="tx1"/>
              </a:solidFill>
            </a:endParaRPr>
          </a:p>
          <a:p>
            <a:pPr marL="0" indent="0">
              <a:spcBef>
                <a:spcPts val="0"/>
              </a:spcBef>
              <a:buNone/>
            </a:pPr>
            <a:r>
              <a:rPr lang="en-US" sz="2400" dirty="0">
                <a:solidFill>
                  <a:schemeClr val="tx1"/>
                </a:solidFill>
              </a:rPr>
              <a:t>Implemented form validation on frontend (React.js) and backend (Spring Boot).</a:t>
            </a:r>
          </a:p>
          <a:p>
            <a:pPr marL="0" indent="0">
              <a:spcBef>
                <a:spcPts val="0"/>
              </a:spcBef>
              <a:buNone/>
            </a:pPr>
            <a:r>
              <a:rPr lang="en-US" sz="2400" dirty="0">
                <a:solidFill>
                  <a:schemeClr val="tx1"/>
                </a:solidFill>
              </a:rPr>
              <a:t>Prevents invalid data entry and ensures smooth user experience.</a:t>
            </a:r>
          </a:p>
        </p:txBody>
      </p:sp>
      <p:cxnSp>
        <p:nvCxnSpPr>
          <p:cNvPr id="5" name="Straight Connector 4">
            <a:extLst>
              <a:ext uri="{FF2B5EF4-FFF2-40B4-BE49-F238E27FC236}">
                <a16:creationId xmlns:a16="http://schemas.microsoft.com/office/drawing/2014/main" id="{3AC4B6A2-1E20-5FB0-F085-523DED67406F}"/>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59899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6C20A-DD47-CC58-BA5E-65A393A5A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06C4B-AF76-8C10-6523-778B2FDDE07C}"/>
              </a:ext>
            </a:extLst>
          </p:cNvPr>
          <p:cNvSpPr>
            <a:spLocks noGrp="1"/>
          </p:cNvSpPr>
          <p:nvPr>
            <p:ph type="title"/>
          </p:nvPr>
        </p:nvSpPr>
        <p:spPr>
          <a:xfrm>
            <a:off x="590350" y="451590"/>
            <a:ext cx="11133221" cy="677108"/>
          </a:xfrm>
        </p:spPr>
        <p:txBody>
          <a:bodyPr>
            <a:noAutofit/>
          </a:bodyPr>
          <a:lstStyle/>
          <a:p>
            <a:r>
              <a:rPr lang="en-US" sz="4270" b="1" dirty="0">
                <a:solidFill>
                  <a:schemeClr val="tx1"/>
                </a:solidFill>
                <a:latin typeface="+mn-lt"/>
              </a:rPr>
              <a:t>Workflow</a:t>
            </a:r>
          </a:p>
        </p:txBody>
      </p:sp>
      <p:cxnSp>
        <p:nvCxnSpPr>
          <p:cNvPr id="5" name="Straight Connector 4">
            <a:extLst>
              <a:ext uri="{FF2B5EF4-FFF2-40B4-BE49-F238E27FC236}">
                <a16:creationId xmlns:a16="http://schemas.microsoft.com/office/drawing/2014/main" id="{5BB09000-3B14-3BB9-FB12-751D7EC94ADA}"/>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1026" name="Picture 2" descr="Saving Images Locally in a Spring Boot Web Application | by Karththikeyan |  Medium">
            <a:extLst>
              <a:ext uri="{FF2B5EF4-FFF2-40B4-BE49-F238E27FC236}">
                <a16:creationId xmlns:a16="http://schemas.microsoft.com/office/drawing/2014/main" id="{9AF12AFC-1205-8819-4674-3BA23900A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0564" y="3429000"/>
            <a:ext cx="1738499" cy="9645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act Logo PNG Transparent &amp; SVG Vector ...">
            <a:extLst>
              <a:ext uri="{FF2B5EF4-FFF2-40B4-BE49-F238E27FC236}">
                <a16:creationId xmlns:a16="http://schemas.microsoft.com/office/drawing/2014/main" id="{2FBBBE13-1F60-5A01-A5E1-AAF69A8AE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6918" y="5007954"/>
            <a:ext cx="785792" cy="78579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ySQL round logo transparent PNG - StickPNG">
            <a:extLst>
              <a:ext uri="{FF2B5EF4-FFF2-40B4-BE49-F238E27FC236}">
                <a16:creationId xmlns:a16="http://schemas.microsoft.com/office/drawing/2014/main" id="{037A46D7-8E8F-FD7D-343A-A122BCC53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243" y="1891455"/>
            <a:ext cx="923140" cy="92314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ven Apache Logo Vector Files Download | Logowik">
            <a:extLst>
              <a:ext uri="{FF2B5EF4-FFF2-40B4-BE49-F238E27FC236}">
                <a16:creationId xmlns:a16="http://schemas.microsoft.com/office/drawing/2014/main" id="{D7935351-6D55-F718-0B8F-555CB6A00D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13510" y="3258835"/>
            <a:ext cx="1738499" cy="13048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ava Logo PNG Transparent &amp; SVG Vector - Freebie Supply">
            <a:extLst>
              <a:ext uri="{FF2B5EF4-FFF2-40B4-BE49-F238E27FC236}">
                <a16:creationId xmlns:a16="http://schemas.microsoft.com/office/drawing/2014/main" id="{F1B3EA7B-FB7B-10B4-82C1-0B9324A28D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1713" y="1918174"/>
            <a:ext cx="715352" cy="10815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5C0ABB2-1609-4294-E2CE-ECFB0DA3E75A}"/>
              </a:ext>
            </a:extLst>
          </p:cNvPr>
          <p:cNvPicPr>
            <a:picLocks noChangeAspect="1"/>
          </p:cNvPicPr>
          <p:nvPr/>
        </p:nvPicPr>
        <p:blipFill>
          <a:blip r:embed="rId7"/>
          <a:stretch>
            <a:fillRect/>
          </a:stretch>
        </p:blipFill>
        <p:spPr>
          <a:xfrm>
            <a:off x="4365243" y="4700751"/>
            <a:ext cx="962818" cy="962818"/>
          </a:xfrm>
          <a:prstGeom prst="rect">
            <a:avLst/>
          </a:prstGeom>
        </p:spPr>
      </p:pic>
      <p:pic>
        <p:nvPicPr>
          <p:cNvPr id="1040" name="Picture 16">
            <a:extLst>
              <a:ext uri="{FF2B5EF4-FFF2-40B4-BE49-F238E27FC236}">
                <a16:creationId xmlns:a16="http://schemas.microsoft.com/office/drawing/2014/main" id="{7DE4434E-1300-A34D-3F11-7A9B3166F2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56755" y="4819495"/>
            <a:ext cx="2092878" cy="116271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it vector logo (.AI + .PDF + .CDR) download for free">
            <a:extLst>
              <a:ext uri="{FF2B5EF4-FFF2-40B4-BE49-F238E27FC236}">
                <a16:creationId xmlns:a16="http://schemas.microsoft.com/office/drawing/2014/main" id="{E53698A8-C31E-7C4A-3D3A-BAEC39E3939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26319" b="28496"/>
          <a:stretch>
            <a:fillRect/>
          </a:stretch>
        </p:blipFill>
        <p:spPr bwMode="auto">
          <a:xfrm>
            <a:off x="701668" y="2643834"/>
            <a:ext cx="1361066" cy="61500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GitHub Logo and symbol, meaning, history, PNG, brand">
            <a:extLst>
              <a:ext uri="{FF2B5EF4-FFF2-40B4-BE49-F238E27FC236}">
                <a16:creationId xmlns:a16="http://schemas.microsoft.com/office/drawing/2014/main" id="{FD73D536-1292-5D5B-898B-8225306002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9693" y="4214166"/>
            <a:ext cx="1430610" cy="804718"/>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101600EB-9167-F863-513A-DF5588AF33D9}"/>
              </a:ext>
            </a:extLst>
          </p:cNvPr>
          <p:cNvCxnSpPr>
            <a:cxnSpLocks/>
            <a:stCxn id="1026" idx="0"/>
            <a:endCxn id="1030" idx="2"/>
          </p:cNvCxnSpPr>
          <p:nvPr/>
        </p:nvCxnSpPr>
        <p:spPr>
          <a:xfrm flipH="1" flipV="1">
            <a:off x="7509813" y="2814595"/>
            <a:ext cx="1" cy="61440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18BC5E32-3588-E507-C70F-A7DE59F3B125}"/>
              </a:ext>
            </a:extLst>
          </p:cNvPr>
          <p:cNvCxnSpPr>
            <a:cxnSpLocks/>
            <a:stCxn id="1026" idx="3"/>
            <a:endCxn id="1034" idx="1"/>
          </p:cNvCxnSpPr>
          <p:nvPr/>
        </p:nvCxnSpPr>
        <p:spPr>
          <a:xfrm flipV="1">
            <a:off x="8379063" y="3911274"/>
            <a:ext cx="1534447" cy="1"/>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D02F5051-1959-8EA0-0589-8F1BB0560A3F}"/>
              </a:ext>
            </a:extLst>
          </p:cNvPr>
          <p:cNvCxnSpPr>
            <a:cxnSpLocks/>
            <a:stCxn id="1028" idx="0"/>
            <a:endCxn id="1026" idx="2"/>
          </p:cNvCxnSpPr>
          <p:nvPr/>
        </p:nvCxnSpPr>
        <p:spPr>
          <a:xfrm flipV="1">
            <a:off x="7509814" y="4393549"/>
            <a:ext cx="0" cy="614405"/>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CDAB1263-5E7E-F088-7F5C-2D5469FA1A25}"/>
              </a:ext>
            </a:extLst>
          </p:cNvPr>
          <p:cNvCxnSpPr>
            <a:cxnSpLocks/>
            <a:stCxn id="1040" idx="1"/>
            <a:endCxn id="1028" idx="3"/>
          </p:cNvCxnSpPr>
          <p:nvPr/>
        </p:nvCxnSpPr>
        <p:spPr>
          <a:xfrm flipH="1">
            <a:off x="7902710" y="5400850"/>
            <a:ext cx="1254045" cy="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58D07CEF-9408-A192-428F-ABCC914B4EAF}"/>
              </a:ext>
            </a:extLst>
          </p:cNvPr>
          <p:cNvCxnSpPr>
            <a:cxnSpLocks/>
            <a:stCxn id="1036" idx="3"/>
            <a:endCxn id="1026" idx="1"/>
          </p:cNvCxnSpPr>
          <p:nvPr/>
        </p:nvCxnSpPr>
        <p:spPr>
          <a:xfrm>
            <a:off x="5297065" y="2458925"/>
            <a:ext cx="1343499" cy="145235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FD858C44-0041-6F93-9196-AF442F26A46E}"/>
              </a:ext>
            </a:extLst>
          </p:cNvPr>
          <p:cNvCxnSpPr>
            <a:cxnSpLocks/>
            <a:stCxn id="1026" idx="1"/>
            <a:endCxn id="8" idx="3"/>
          </p:cNvCxnSpPr>
          <p:nvPr/>
        </p:nvCxnSpPr>
        <p:spPr>
          <a:xfrm flipH="1">
            <a:off x="5328061" y="3911275"/>
            <a:ext cx="1312503" cy="1270885"/>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sp>
        <p:nvSpPr>
          <p:cNvPr id="33" name="Rectangle 32">
            <a:extLst>
              <a:ext uri="{FF2B5EF4-FFF2-40B4-BE49-F238E27FC236}">
                <a16:creationId xmlns:a16="http://schemas.microsoft.com/office/drawing/2014/main" id="{BB3069EE-42C3-4CE9-1759-8CBB49D95335}"/>
              </a:ext>
            </a:extLst>
          </p:cNvPr>
          <p:cNvSpPr/>
          <p:nvPr/>
        </p:nvSpPr>
        <p:spPr>
          <a:xfrm>
            <a:off x="4007456" y="1749144"/>
            <a:ext cx="7871791" cy="43596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D0C881B6-D3E6-0A15-0C22-77928B1979F5}"/>
              </a:ext>
            </a:extLst>
          </p:cNvPr>
          <p:cNvCxnSpPr>
            <a:stCxn id="33" idx="1"/>
            <a:endCxn id="1042" idx="3"/>
          </p:cNvCxnSpPr>
          <p:nvPr/>
        </p:nvCxnSpPr>
        <p:spPr>
          <a:xfrm flipH="1" flipV="1">
            <a:off x="2062734" y="2951335"/>
            <a:ext cx="1944722" cy="977636"/>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67F0857E-5242-F84A-A925-29D546C32734}"/>
              </a:ext>
            </a:extLst>
          </p:cNvPr>
          <p:cNvCxnSpPr>
            <a:stCxn id="1042" idx="2"/>
            <a:endCxn id="1044" idx="0"/>
          </p:cNvCxnSpPr>
          <p:nvPr/>
        </p:nvCxnSpPr>
        <p:spPr>
          <a:xfrm flipH="1">
            <a:off x="1374998" y="3258835"/>
            <a:ext cx="7203" cy="955331"/>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sp>
        <p:nvSpPr>
          <p:cNvPr id="48" name="TextBox 47">
            <a:extLst>
              <a:ext uri="{FF2B5EF4-FFF2-40B4-BE49-F238E27FC236}">
                <a16:creationId xmlns:a16="http://schemas.microsoft.com/office/drawing/2014/main" id="{6FD4BE31-B19E-9BF3-0E3C-8C7B931A5D8E}"/>
              </a:ext>
            </a:extLst>
          </p:cNvPr>
          <p:cNvSpPr txBox="1"/>
          <p:nvPr/>
        </p:nvSpPr>
        <p:spPr>
          <a:xfrm>
            <a:off x="77462" y="3430455"/>
            <a:ext cx="1297536" cy="600164"/>
          </a:xfrm>
          <a:prstGeom prst="rect">
            <a:avLst/>
          </a:prstGeom>
          <a:noFill/>
        </p:spPr>
        <p:txBody>
          <a:bodyPr wrap="square">
            <a:spAutoFit/>
          </a:bodyPr>
          <a:lstStyle/>
          <a:p>
            <a:r>
              <a:rPr lang="en-US" sz="1100" dirty="0"/>
              <a:t>Remote repository for managing source code</a:t>
            </a:r>
          </a:p>
        </p:txBody>
      </p:sp>
      <p:sp>
        <p:nvSpPr>
          <p:cNvPr id="50" name="TextBox 49">
            <a:extLst>
              <a:ext uri="{FF2B5EF4-FFF2-40B4-BE49-F238E27FC236}">
                <a16:creationId xmlns:a16="http://schemas.microsoft.com/office/drawing/2014/main" id="{D52FD473-8FE3-29D3-8E17-A73DF3C4135D}"/>
              </a:ext>
            </a:extLst>
          </p:cNvPr>
          <p:cNvSpPr txBox="1"/>
          <p:nvPr/>
        </p:nvSpPr>
        <p:spPr>
          <a:xfrm>
            <a:off x="2610091" y="3520738"/>
            <a:ext cx="630141" cy="430887"/>
          </a:xfrm>
          <a:prstGeom prst="rect">
            <a:avLst/>
          </a:prstGeom>
          <a:noFill/>
        </p:spPr>
        <p:txBody>
          <a:bodyPr wrap="square">
            <a:spAutoFit/>
          </a:bodyPr>
          <a:lstStyle/>
          <a:p>
            <a:r>
              <a:rPr lang="en-US" sz="1100" dirty="0"/>
              <a:t>Version control</a:t>
            </a:r>
          </a:p>
        </p:txBody>
      </p:sp>
      <p:sp>
        <p:nvSpPr>
          <p:cNvPr id="52" name="TextBox 51">
            <a:extLst>
              <a:ext uri="{FF2B5EF4-FFF2-40B4-BE49-F238E27FC236}">
                <a16:creationId xmlns:a16="http://schemas.microsoft.com/office/drawing/2014/main" id="{C1001441-35E3-DFBE-62B4-A56F4908C83E}"/>
              </a:ext>
            </a:extLst>
          </p:cNvPr>
          <p:cNvSpPr txBox="1"/>
          <p:nvPr/>
        </p:nvSpPr>
        <p:spPr>
          <a:xfrm>
            <a:off x="5005996" y="3168705"/>
            <a:ext cx="962818" cy="430887"/>
          </a:xfrm>
          <a:prstGeom prst="rect">
            <a:avLst/>
          </a:prstGeom>
          <a:noFill/>
        </p:spPr>
        <p:txBody>
          <a:bodyPr wrap="square">
            <a:spAutoFit/>
          </a:bodyPr>
          <a:lstStyle/>
          <a:p>
            <a:r>
              <a:rPr lang="en-US" sz="1100" dirty="0"/>
              <a:t>Core backend language</a:t>
            </a:r>
          </a:p>
        </p:txBody>
      </p:sp>
      <p:sp>
        <p:nvSpPr>
          <p:cNvPr id="54" name="TextBox 53">
            <a:extLst>
              <a:ext uri="{FF2B5EF4-FFF2-40B4-BE49-F238E27FC236}">
                <a16:creationId xmlns:a16="http://schemas.microsoft.com/office/drawing/2014/main" id="{EB0F45DC-6A47-BF52-4A19-70155B79D720}"/>
              </a:ext>
            </a:extLst>
          </p:cNvPr>
          <p:cNvSpPr txBox="1"/>
          <p:nvPr/>
        </p:nvSpPr>
        <p:spPr>
          <a:xfrm>
            <a:off x="5009851" y="4269864"/>
            <a:ext cx="1085434" cy="430887"/>
          </a:xfrm>
          <a:prstGeom prst="rect">
            <a:avLst/>
          </a:prstGeom>
          <a:noFill/>
        </p:spPr>
        <p:txBody>
          <a:bodyPr wrap="square">
            <a:spAutoFit/>
          </a:bodyPr>
          <a:lstStyle/>
          <a:p>
            <a:r>
              <a:rPr lang="en-US" sz="1100" dirty="0"/>
              <a:t>API testing and validation</a:t>
            </a:r>
          </a:p>
        </p:txBody>
      </p:sp>
      <p:sp>
        <p:nvSpPr>
          <p:cNvPr id="56" name="TextBox 55">
            <a:extLst>
              <a:ext uri="{FF2B5EF4-FFF2-40B4-BE49-F238E27FC236}">
                <a16:creationId xmlns:a16="http://schemas.microsoft.com/office/drawing/2014/main" id="{47EF3644-1C0F-C15D-F2F1-6F807C191B9C}"/>
              </a:ext>
            </a:extLst>
          </p:cNvPr>
          <p:cNvSpPr txBox="1"/>
          <p:nvPr/>
        </p:nvSpPr>
        <p:spPr>
          <a:xfrm>
            <a:off x="7578430" y="2821332"/>
            <a:ext cx="1376503" cy="600164"/>
          </a:xfrm>
          <a:prstGeom prst="rect">
            <a:avLst/>
          </a:prstGeom>
          <a:noFill/>
        </p:spPr>
        <p:txBody>
          <a:bodyPr wrap="square">
            <a:spAutoFit/>
          </a:bodyPr>
          <a:lstStyle/>
          <a:p>
            <a:r>
              <a:rPr lang="en-US" sz="1100" dirty="0"/>
              <a:t>Handles database connectivity and data persistence</a:t>
            </a:r>
          </a:p>
        </p:txBody>
      </p:sp>
      <p:sp>
        <p:nvSpPr>
          <p:cNvPr id="58" name="TextBox 57">
            <a:extLst>
              <a:ext uri="{FF2B5EF4-FFF2-40B4-BE49-F238E27FC236}">
                <a16:creationId xmlns:a16="http://schemas.microsoft.com/office/drawing/2014/main" id="{616D656F-F94A-B117-E383-3F8C3956AC82}"/>
              </a:ext>
            </a:extLst>
          </p:cNvPr>
          <p:cNvSpPr txBox="1"/>
          <p:nvPr/>
        </p:nvSpPr>
        <p:spPr>
          <a:xfrm>
            <a:off x="8333284" y="3971670"/>
            <a:ext cx="1738499" cy="430887"/>
          </a:xfrm>
          <a:prstGeom prst="rect">
            <a:avLst/>
          </a:prstGeom>
          <a:noFill/>
        </p:spPr>
        <p:txBody>
          <a:bodyPr wrap="square">
            <a:spAutoFit/>
          </a:bodyPr>
          <a:lstStyle/>
          <a:p>
            <a:r>
              <a:rPr lang="en-US" sz="1100" dirty="0"/>
              <a:t>Dependency management and build automation tool</a:t>
            </a:r>
          </a:p>
        </p:txBody>
      </p:sp>
      <p:sp>
        <p:nvSpPr>
          <p:cNvPr id="60" name="TextBox 59">
            <a:extLst>
              <a:ext uri="{FF2B5EF4-FFF2-40B4-BE49-F238E27FC236}">
                <a16:creationId xmlns:a16="http://schemas.microsoft.com/office/drawing/2014/main" id="{394B68A5-9573-5CA7-5770-450C68F5F443}"/>
              </a:ext>
            </a:extLst>
          </p:cNvPr>
          <p:cNvSpPr txBox="1"/>
          <p:nvPr/>
        </p:nvSpPr>
        <p:spPr>
          <a:xfrm>
            <a:off x="7585980" y="4529023"/>
            <a:ext cx="1224397" cy="430887"/>
          </a:xfrm>
          <a:prstGeom prst="rect">
            <a:avLst/>
          </a:prstGeom>
          <a:noFill/>
        </p:spPr>
        <p:txBody>
          <a:bodyPr wrap="square">
            <a:spAutoFit/>
          </a:bodyPr>
          <a:lstStyle/>
          <a:p>
            <a:r>
              <a:rPr lang="en-US" sz="1100" dirty="0"/>
              <a:t>Sends HTTP requests</a:t>
            </a:r>
          </a:p>
        </p:txBody>
      </p:sp>
      <p:sp>
        <p:nvSpPr>
          <p:cNvPr id="62" name="TextBox 61">
            <a:extLst>
              <a:ext uri="{FF2B5EF4-FFF2-40B4-BE49-F238E27FC236}">
                <a16:creationId xmlns:a16="http://schemas.microsoft.com/office/drawing/2014/main" id="{D3F583B5-3CE5-4D19-3685-923553867BC9}"/>
              </a:ext>
            </a:extLst>
          </p:cNvPr>
          <p:cNvSpPr txBox="1"/>
          <p:nvPr/>
        </p:nvSpPr>
        <p:spPr>
          <a:xfrm>
            <a:off x="6482847" y="4525680"/>
            <a:ext cx="1064723" cy="430887"/>
          </a:xfrm>
          <a:prstGeom prst="rect">
            <a:avLst/>
          </a:prstGeom>
          <a:noFill/>
        </p:spPr>
        <p:txBody>
          <a:bodyPr wrap="square">
            <a:spAutoFit/>
          </a:bodyPr>
          <a:lstStyle/>
          <a:p>
            <a:r>
              <a:rPr lang="en-US" sz="1100" dirty="0"/>
              <a:t>Sends backend responses</a:t>
            </a:r>
          </a:p>
        </p:txBody>
      </p:sp>
      <p:sp>
        <p:nvSpPr>
          <p:cNvPr id="1024" name="TextBox 1023">
            <a:extLst>
              <a:ext uri="{FF2B5EF4-FFF2-40B4-BE49-F238E27FC236}">
                <a16:creationId xmlns:a16="http://schemas.microsoft.com/office/drawing/2014/main" id="{248A59CA-D781-30F4-FEF6-DD41439D4608}"/>
              </a:ext>
            </a:extLst>
          </p:cNvPr>
          <p:cNvSpPr txBox="1"/>
          <p:nvPr/>
        </p:nvSpPr>
        <p:spPr>
          <a:xfrm>
            <a:off x="7923378" y="5448125"/>
            <a:ext cx="1233378" cy="600164"/>
          </a:xfrm>
          <a:prstGeom prst="rect">
            <a:avLst/>
          </a:prstGeom>
          <a:noFill/>
        </p:spPr>
        <p:txBody>
          <a:bodyPr wrap="square">
            <a:spAutoFit/>
          </a:bodyPr>
          <a:lstStyle/>
          <a:p>
            <a:r>
              <a:rPr lang="en-US" sz="1100" dirty="0"/>
              <a:t>Provides modern and responsive styling</a:t>
            </a:r>
          </a:p>
        </p:txBody>
      </p:sp>
    </p:spTree>
    <p:extLst>
      <p:ext uri="{BB962C8B-B14F-4D97-AF65-F5344CB8AC3E}">
        <p14:creationId xmlns:p14="http://schemas.microsoft.com/office/powerpoint/2010/main" val="25995951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3"/>
          </p:nvPr>
        </p:nvSpPr>
        <p:spPr/>
        <p:txBody>
          <a:bodyPr/>
          <a:lstStyle/>
          <a:p>
            <a:fld id="{4B327F5A-7D8F-4012-9A1A-2197D74A174F}" type="slidenum">
              <a:rPr lang="en-IN" smtClean="0"/>
              <a:pPr/>
              <a:t>7</a:t>
            </a:fld>
            <a:endParaRPr lang="en-IN" dirty="0"/>
          </a:p>
        </p:txBody>
      </p:sp>
      <p:sp>
        <p:nvSpPr>
          <p:cNvPr id="6" name="TextBox 5"/>
          <p:cNvSpPr txBox="1"/>
          <p:nvPr/>
        </p:nvSpPr>
        <p:spPr bwMode="auto">
          <a:xfrm>
            <a:off x="799851" y="476101"/>
            <a:ext cx="5296149" cy="656655"/>
          </a:xfrm>
          <a:prstGeom prst="rect">
            <a:avLst/>
          </a:prstGeom>
          <a:noFill/>
          <a:ln w="19050" algn="ctr">
            <a:noFill/>
            <a:miter lim="800000"/>
            <a:headEnd/>
            <a:tailEnd/>
          </a:ln>
        </p:spPr>
        <p:txBody>
          <a:bodyPr wrap="square" lIns="0" tIns="0" rIns="0" bIns="0" rtlCol="0">
            <a:spAutoFit/>
          </a:bodyPr>
          <a:lstStyle/>
          <a:p>
            <a:r>
              <a:rPr lang="en-US" sz="4267" b="1" dirty="0"/>
              <a:t>Output</a:t>
            </a:r>
          </a:p>
        </p:txBody>
      </p:sp>
      <p:sp>
        <p:nvSpPr>
          <p:cNvPr id="7" name="Rectangle 3">
            <a:extLst>
              <a:ext uri="{FF2B5EF4-FFF2-40B4-BE49-F238E27FC236}">
                <a16:creationId xmlns:a16="http://schemas.microsoft.com/office/drawing/2014/main" id="{A3B4CC3C-5CEA-446B-AB96-DB7C65E796F6}"/>
              </a:ext>
            </a:extLst>
          </p:cNvPr>
          <p:cNvSpPr>
            <a:spLocks noChangeArrowheads="1"/>
          </p:cNvSpPr>
          <p:nvPr/>
        </p:nvSpPr>
        <p:spPr bwMode="auto">
          <a:xfrm>
            <a:off x="0" y="-246220"/>
            <a:ext cx="61967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buFontTx/>
              <a:buChar char="•"/>
            </a:pPr>
            <a:endParaRPr lang="en-US" altLang="en-US" sz="2400" dirty="0">
              <a:latin typeface="Arial" panose="020B0604020202020204" pitchFamily="34" charset="0"/>
            </a:endParaRPr>
          </a:p>
        </p:txBody>
      </p:sp>
      <p:cxnSp>
        <p:nvCxnSpPr>
          <p:cNvPr id="11" name="Straight Connector 10">
            <a:extLst>
              <a:ext uri="{FF2B5EF4-FFF2-40B4-BE49-F238E27FC236}">
                <a16:creationId xmlns:a16="http://schemas.microsoft.com/office/drawing/2014/main" id="{4EAD4D02-11AF-4C26-BABD-3A5695C9DE7C}"/>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21" name="Picture 20">
            <a:extLst>
              <a:ext uri="{FF2B5EF4-FFF2-40B4-BE49-F238E27FC236}">
                <a16:creationId xmlns:a16="http://schemas.microsoft.com/office/drawing/2014/main" id="{39E94E47-F62C-4933-A8F0-855D592DE4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pic>
        <p:nvPicPr>
          <p:cNvPr id="4" name="Picture 3">
            <a:extLst>
              <a:ext uri="{FF2B5EF4-FFF2-40B4-BE49-F238E27FC236}">
                <a16:creationId xmlns:a16="http://schemas.microsoft.com/office/drawing/2014/main" id="{0C6D3EC8-6844-50EF-BCC2-153C9AFDDAAC}"/>
              </a:ext>
            </a:extLst>
          </p:cNvPr>
          <p:cNvPicPr>
            <a:picLocks noChangeAspect="1"/>
          </p:cNvPicPr>
          <p:nvPr/>
        </p:nvPicPr>
        <p:blipFill>
          <a:blip r:embed="rId3"/>
          <a:stretch>
            <a:fillRect/>
          </a:stretch>
        </p:blipFill>
        <p:spPr>
          <a:xfrm>
            <a:off x="262393" y="1592515"/>
            <a:ext cx="4980154" cy="2670442"/>
          </a:xfrm>
          <a:prstGeom prst="rect">
            <a:avLst/>
          </a:prstGeom>
        </p:spPr>
      </p:pic>
      <p:pic>
        <p:nvPicPr>
          <p:cNvPr id="9" name="Picture 8">
            <a:extLst>
              <a:ext uri="{FF2B5EF4-FFF2-40B4-BE49-F238E27FC236}">
                <a16:creationId xmlns:a16="http://schemas.microsoft.com/office/drawing/2014/main" id="{DFC6A659-B22F-B2CE-9406-26FB7BB0974E}"/>
              </a:ext>
            </a:extLst>
          </p:cNvPr>
          <p:cNvPicPr>
            <a:picLocks noChangeAspect="1"/>
          </p:cNvPicPr>
          <p:nvPr/>
        </p:nvPicPr>
        <p:blipFill>
          <a:blip r:embed="rId4"/>
          <a:stretch>
            <a:fillRect/>
          </a:stretch>
        </p:blipFill>
        <p:spPr>
          <a:xfrm>
            <a:off x="6096000" y="2927736"/>
            <a:ext cx="5807103" cy="3120370"/>
          </a:xfrm>
          <a:prstGeom prst="rect">
            <a:avLst/>
          </a:prstGeom>
        </p:spPr>
      </p:pic>
    </p:spTree>
    <p:extLst>
      <p:ext uri="{BB962C8B-B14F-4D97-AF65-F5344CB8AC3E}">
        <p14:creationId xmlns:p14="http://schemas.microsoft.com/office/powerpoint/2010/main" val="393152624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CD4A58-A697-629E-8BF5-7932D2E1A4B5}"/>
              </a:ext>
            </a:extLst>
          </p:cNvPr>
          <p:cNvSpPr/>
          <p:nvPr/>
        </p:nvSpPr>
        <p:spPr>
          <a:xfrm>
            <a:off x="5233307" y="971550"/>
            <a:ext cx="473529" cy="359229"/>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83A429C-F22C-D2CF-7D49-8DE921E30417}"/>
              </a:ext>
            </a:extLst>
          </p:cNvPr>
          <p:cNvPicPr>
            <a:picLocks noChangeAspect="1"/>
          </p:cNvPicPr>
          <p:nvPr/>
        </p:nvPicPr>
        <p:blipFill>
          <a:blip r:embed="rId2"/>
          <a:stretch>
            <a:fillRect/>
          </a:stretch>
        </p:blipFill>
        <p:spPr>
          <a:xfrm>
            <a:off x="317626" y="35171"/>
            <a:ext cx="5992924" cy="3213507"/>
          </a:xfrm>
          <a:prstGeom prst="rect">
            <a:avLst/>
          </a:prstGeom>
        </p:spPr>
      </p:pic>
      <p:pic>
        <p:nvPicPr>
          <p:cNvPr id="6" name="Picture 5">
            <a:extLst>
              <a:ext uri="{FF2B5EF4-FFF2-40B4-BE49-F238E27FC236}">
                <a16:creationId xmlns:a16="http://schemas.microsoft.com/office/drawing/2014/main" id="{05B58868-0927-6335-ECBD-043ED212B664}"/>
              </a:ext>
            </a:extLst>
          </p:cNvPr>
          <p:cNvPicPr>
            <a:picLocks noChangeAspect="1"/>
          </p:cNvPicPr>
          <p:nvPr/>
        </p:nvPicPr>
        <p:blipFill>
          <a:blip r:embed="rId3"/>
          <a:stretch>
            <a:fillRect/>
          </a:stretch>
        </p:blipFill>
        <p:spPr>
          <a:xfrm>
            <a:off x="5174099" y="3338617"/>
            <a:ext cx="6485164" cy="3484212"/>
          </a:xfrm>
          <a:prstGeom prst="rect">
            <a:avLst/>
          </a:prstGeom>
        </p:spPr>
      </p:pic>
    </p:spTree>
    <p:extLst>
      <p:ext uri="{BB962C8B-B14F-4D97-AF65-F5344CB8AC3E}">
        <p14:creationId xmlns:p14="http://schemas.microsoft.com/office/powerpoint/2010/main" val="2058511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CD2C58-E0C7-08D7-E010-8260DFDA8B19}"/>
              </a:ext>
            </a:extLst>
          </p:cNvPr>
          <p:cNvSpPr/>
          <p:nvPr/>
        </p:nvSpPr>
        <p:spPr>
          <a:xfrm>
            <a:off x="1240971" y="742949"/>
            <a:ext cx="277586" cy="261257"/>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6016971-921C-5DDC-FBEB-7399B1E00DC9}"/>
              </a:ext>
            </a:extLst>
          </p:cNvPr>
          <p:cNvSpPr/>
          <p:nvPr/>
        </p:nvSpPr>
        <p:spPr>
          <a:xfrm>
            <a:off x="5110842" y="816428"/>
            <a:ext cx="277586" cy="261257"/>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FC36F5C-4813-5548-9A23-ADF006176F48}"/>
              </a:ext>
            </a:extLst>
          </p:cNvPr>
          <p:cNvSpPr/>
          <p:nvPr/>
        </p:nvSpPr>
        <p:spPr>
          <a:xfrm>
            <a:off x="3483429" y="3502478"/>
            <a:ext cx="182336" cy="19594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789250C-4390-E0F6-D9BC-5DC4A6232AC8}"/>
              </a:ext>
            </a:extLst>
          </p:cNvPr>
          <p:cNvSpPr/>
          <p:nvPr/>
        </p:nvSpPr>
        <p:spPr>
          <a:xfrm>
            <a:off x="9511393" y="3698422"/>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3B322B3-B055-404F-794F-23E4E1ACF69A}"/>
              </a:ext>
            </a:extLst>
          </p:cNvPr>
          <p:cNvSpPr/>
          <p:nvPr/>
        </p:nvSpPr>
        <p:spPr>
          <a:xfrm>
            <a:off x="9511393" y="3958657"/>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CD3F646-AB25-AC29-A487-E6B117FB2621}"/>
              </a:ext>
            </a:extLst>
          </p:cNvPr>
          <p:cNvSpPr/>
          <p:nvPr/>
        </p:nvSpPr>
        <p:spPr>
          <a:xfrm>
            <a:off x="9511393" y="4218892"/>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8E4032-3A57-B000-7D12-6585BFEDE90C}"/>
              </a:ext>
            </a:extLst>
          </p:cNvPr>
          <p:cNvSpPr/>
          <p:nvPr/>
        </p:nvSpPr>
        <p:spPr>
          <a:xfrm>
            <a:off x="9511392" y="4528545"/>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58B22B-C120-9F03-07D5-69E54A23A8E1}"/>
              </a:ext>
            </a:extLst>
          </p:cNvPr>
          <p:cNvSpPr/>
          <p:nvPr/>
        </p:nvSpPr>
        <p:spPr>
          <a:xfrm>
            <a:off x="9511391" y="4778867"/>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EB932A-5AA8-ED3D-7348-86262D375661}"/>
              </a:ext>
            </a:extLst>
          </p:cNvPr>
          <p:cNvSpPr/>
          <p:nvPr/>
        </p:nvSpPr>
        <p:spPr>
          <a:xfrm>
            <a:off x="9511390" y="5049015"/>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7FA011-6A0B-1610-8ACB-39EF83181A10}"/>
              </a:ext>
            </a:extLst>
          </p:cNvPr>
          <p:cNvSpPr/>
          <p:nvPr/>
        </p:nvSpPr>
        <p:spPr>
          <a:xfrm>
            <a:off x="2177143" y="2430236"/>
            <a:ext cx="3129643" cy="99876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BE946F1-6C8F-1108-6E85-039300C6FEC1}"/>
              </a:ext>
            </a:extLst>
          </p:cNvPr>
          <p:cNvSpPr/>
          <p:nvPr/>
        </p:nvSpPr>
        <p:spPr>
          <a:xfrm>
            <a:off x="4408714" y="1973036"/>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0C3B116-0E04-35E5-17ED-1601D1270DB6}"/>
              </a:ext>
            </a:extLst>
          </p:cNvPr>
          <p:cNvSpPr/>
          <p:nvPr/>
        </p:nvSpPr>
        <p:spPr>
          <a:xfrm>
            <a:off x="3321503" y="2027463"/>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BFF175-5DCB-AD3B-29F8-5088EA2C4BBE}"/>
              </a:ext>
            </a:extLst>
          </p:cNvPr>
          <p:cNvSpPr/>
          <p:nvPr/>
        </p:nvSpPr>
        <p:spPr>
          <a:xfrm>
            <a:off x="2258784" y="2013854"/>
            <a:ext cx="840921" cy="15512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7BAC772-0BDD-BEFC-96A6-E606102D275E}"/>
              </a:ext>
            </a:extLst>
          </p:cNvPr>
          <p:cNvSpPr/>
          <p:nvPr/>
        </p:nvSpPr>
        <p:spPr>
          <a:xfrm>
            <a:off x="4269921" y="797374"/>
            <a:ext cx="840921" cy="206832"/>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A6421C5-7EC3-28D5-4761-38EA2268A56A}"/>
              </a:ext>
            </a:extLst>
          </p:cNvPr>
          <p:cNvPicPr>
            <a:picLocks noChangeAspect="1"/>
          </p:cNvPicPr>
          <p:nvPr/>
        </p:nvPicPr>
        <p:blipFill>
          <a:blip r:embed="rId2"/>
          <a:stretch>
            <a:fillRect/>
          </a:stretch>
        </p:blipFill>
        <p:spPr>
          <a:xfrm>
            <a:off x="7429648" y="3571598"/>
            <a:ext cx="4762352" cy="2890157"/>
          </a:xfrm>
          <a:prstGeom prst="rect">
            <a:avLst/>
          </a:prstGeom>
        </p:spPr>
      </p:pic>
      <p:pic>
        <p:nvPicPr>
          <p:cNvPr id="5" name="Picture 4">
            <a:extLst>
              <a:ext uri="{FF2B5EF4-FFF2-40B4-BE49-F238E27FC236}">
                <a16:creationId xmlns:a16="http://schemas.microsoft.com/office/drawing/2014/main" id="{06D62726-29C7-6D82-2027-0266F3EC80B7}"/>
              </a:ext>
            </a:extLst>
          </p:cNvPr>
          <p:cNvPicPr>
            <a:picLocks noChangeAspect="1"/>
          </p:cNvPicPr>
          <p:nvPr/>
        </p:nvPicPr>
        <p:blipFill>
          <a:blip r:embed="rId3"/>
          <a:stretch>
            <a:fillRect/>
          </a:stretch>
        </p:blipFill>
        <p:spPr>
          <a:xfrm>
            <a:off x="238252" y="54726"/>
            <a:ext cx="8128771" cy="2473789"/>
          </a:xfrm>
          <a:prstGeom prst="rect">
            <a:avLst/>
          </a:prstGeom>
        </p:spPr>
      </p:pic>
      <p:pic>
        <p:nvPicPr>
          <p:cNvPr id="19" name="Picture 18">
            <a:extLst>
              <a:ext uri="{FF2B5EF4-FFF2-40B4-BE49-F238E27FC236}">
                <a16:creationId xmlns:a16="http://schemas.microsoft.com/office/drawing/2014/main" id="{AE957B49-81EE-60CF-54E2-388EF4E864C3}"/>
              </a:ext>
            </a:extLst>
          </p:cNvPr>
          <p:cNvPicPr>
            <a:picLocks noChangeAspect="1"/>
          </p:cNvPicPr>
          <p:nvPr/>
        </p:nvPicPr>
        <p:blipFill>
          <a:blip r:embed="rId4"/>
          <a:stretch>
            <a:fillRect/>
          </a:stretch>
        </p:blipFill>
        <p:spPr>
          <a:xfrm>
            <a:off x="238252" y="2789777"/>
            <a:ext cx="7126485" cy="3828768"/>
          </a:xfrm>
          <a:prstGeom prst="rect">
            <a:avLst/>
          </a:prstGeom>
        </p:spPr>
      </p:pic>
      <p:sp>
        <p:nvSpPr>
          <p:cNvPr id="23" name="TextBox 22">
            <a:extLst>
              <a:ext uri="{FF2B5EF4-FFF2-40B4-BE49-F238E27FC236}">
                <a16:creationId xmlns:a16="http://schemas.microsoft.com/office/drawing/2014/main" id="{E4A8B0FB-FD22-4711-3940-06E17AD3F58B}"/>
              </a:ext>
            </a:extLst>
          </p:cNvPr>
          <p:cNvSpPr txBox="1"/>
          <p:nvPr/>
        </p:nvSpPr>
        <p:spPr>
          <a:xfrm>
            <a:off x="9303628" y="3204258"/>
            <a:ext cx="3005593" cy="369332"/>
          </a:xfrm>
          <a:prstGeom prst="rect">
            <a:avLst/>
          </a:prstGeom>
          <a:noFill/>
        </p:spPr>
        <p:txBody>
          <a:bodyPr wrap="square" rtlCol="0">
            <a:spAutoFit/>
          </a:bodyPr>
          <a:lstStyle/>
          <a:p>
            <a:r>
              <a:rPr lang="en-US" dirty="0"/>
              <a:t>User Dashboard: </a:t>
            </a:r>
          </a:p>
        </p:txBody>
      </p:sp>
    </p:spTree>
    <p:extLst>
      <p:ext uri="{BB962C8B-B14F-4D97-AF65-F5344CB8AC3E}">
        <p14:creationId xmlns:p14="http://schemas.microsoft.com/office/powerpoint/2010/main" val="2692747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3"/>
          </p:nvPr>
        </p:nvSpPr>
        <p:spPr/>
        <p:txBody>
          <a:bodyPr/>
          <a:lstStyle/>
          <a:p>
            <a:fld id="{4B327F5A-7D8F-4012-9A1A-2197D74A174F}" type="slidenum">
              <a:rPr lang="en-IN" smtClean="0"/>
              <a:pPr/>
              <a:t>10</a:t>
            </a:fld>
            <a:endParaRPr lang="en-IN" dirty="0"/>
          </a:p>
        </p:txBody>
      </p:sp>
      <p:sp>
        <p:nvSpPr>
          <p:cNvPr id="6" name="TextBox 5"/>
          <p:cNvSpPr txBox="1"/>
          <p:nvPr/>
        </p:nvSpPr>
        <p:spPr bwMode="auto">
          <a:xfrm>
            <a:off x="799851" y="451793"/>
            <a:ext cx="5296149" cy="656655"/>
          </a:xfrm>
          <a:prstGeom prst="rect">
            <a:avLst/>
          </a:prstGeom>
          <a:noFill/>
          <a:ln w="19050" algn="ctr">
            <a:noFill/>
            <a:miter lim="800000"/>
            <a:headEnd/>
            <a:tailEnd/>
          </a:ln>
        </p:spPr>
        <p:txBody>
          <a:bodyPr wrap="square" lIns="0" tIns="0" rIns="0" bIns="0" rtlCol="0">
            <a:spAutoFit/>
          </a:bodyPr>
          <a:lstStyle/>
          <a:p>
            <a:r>
              <a:rPr lang="en-US" sz="4267" b="1" dirty="0"/>
              <a:t>Conclusion</a:t>
            </a:r>
          </a:p>
        </p:txBody>
      </p:sp>
      <p:sp>
        <p:nvSpPr>
          <p:cNvPr id="7" name="Rectangle 3">
            <a:extLst>
              <a:ext uri="{FF2B5EF4-FFF2-40B4-BE49-F238E27FC236}">
                <a16:creationId xmlns:a16="http://schemas.microsoft.com/office/drawing/2014/main" id="{A3B4CC3C-5CEA-446B-AB96-DB7C65E796F6}"/>
              </a:ext>
            </a:extLst>
          </p:cNvPr>
          <p:cNvSpPr>
            <a:spLocks noChangeArrowheads="1"/>
          </p:cNvSpPr>
          <p:nvPr/>
        </p:nvSpPr>
        <p:spPr bwMode="auto">
          <a:xfrm>
            <a:off x="0" y="0"/>
            <a:ext cx="61967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buFontTx/>
              <a:buChar char="•"/>
            </a:pPr>
            <a:endParaRPr lang="en-US" altLang="en-US" sz="2400" dirty="0">
              <a:latin typeface="Arial" panose="020B0604020202020204" pitchFamily="34" charset="0"/>
            </a:endParaRPr>
          </a:p>
        </p:txBody>
      </p:sp>
      <p:cxnSp>
        <p:nvCxnSpPr>
          <p:cNvPr id="11" name="Straight Connector 10">
            <a:extLst>
              <a:ext uri="{FF2B5EF4-FFF2-40B4-BE49-F238E27FC236}">
                <a16:creationId xmlns:a16="http://schemas.microsoft.com/office/drawing/2014/main" id="{4EAD4D02-11AF-4C26-BABD-3A5695C9DE7C}"/>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
        <p:nvSpPr>
          <p:cNvPr id="3" name="Rectangle 2">
            <a:extLst>
              <a:ext uri="{FF2B5EF4-FFF2-40B4-BE49-F238E27FC236}">
                <a16:creationId xmlns:a16="http://schemas.microsoft.com/office/drawing/2014/main" id="{3689F5B2-4BC1-4BEA-B0FD-3D998F909845}"/>
              </a:ext>
            </a:extLst>
          </p:cNvPr>
          <p:cNvSpPr>
            <a:spLocks noChangeArrowheads="1"/>
          </p:cNvSpPr>
          <p:nvPr/>
        </p:nvSpPr>
        <p:spPr bwMode="auto">
          <a:xfrm>
            <a:off x="805590" y="1978640"/>
            <a:ext cx="105808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dirty="0"/>
              <a:t>The </a:t>
            </a:r>
            <a:r>
              <a:rPr lang="en-US" sz="2400" b="1" dirty="0"/>
              <a:t>Employee Management System</a:t>
            </a:r>
            <a:r>
              <a:rPr lang="en-US" sz="2400" dirty="0"/>
              <a:t> streamlines HR operations by automating employee record management. It enhances data accuracy, reduces administrative workload, and provides a secure, user-friendly experience. Integration of </a:t>
            </a:r>
            <a:r>
              <a:rPr lang="en-US" sz="2400" b="1" dirty="0"/>
              <a:t>React.js</a:t>
            </a:r>
            <a:r>
              <a:rPr lang="en-US" sz="2400" dirty="0"/>
              <a:t> and </a:t>
            </a:r>
            <a:r>
              <a:rPr lang="en-US" sz="2400" b="1" dirty="0"/>
              <a:t>Spring Boot</a:t>
            </a:r>
            <a:r>
              <a:rPr lang="en-US" sz="2400" dirty="0"/>
              <a:t> ensures a smooth, fast, and scalable system. Overall, it enables organizations to maintain structured and efficient employee information systems.</a:t>
            </a:r>
            <a:endParaRPr kumimoji="0" lang="en-US" altLang="en-US" sz="2400" i="0" u="none" strike="noStrike" cap="none" normalizeH="0" baseline="0" dirty="0">
              <a:ln>
                <a:noFill/>
              </a:ln>
              <a:effectLst/>
              <a:latin typeface="Arial" panose="020B0604020202020204" pitchFamily="34" charset="0"/>
            </a:endParaRPr>
          </a:p>
        </p:txBody>
      </p:sp>
      <p:pic>
        <p:nvPicPr>
          <p:cNvPr id="9" name="Picture 8">
            <a:extLst>
              <a:ext uri="{FF2B5EF4-FFF2-40B4-BE49-F238E27FC236}">
                <a16:creationId xmlns:a16="http://schemas.microsoft.com/office/drawing/2014/main" id="{5499ACE2-5BA5-41D1-B577-4004E9469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spTree>
    <p:extLst>
      <p:ext uri="{BB962C8B-B14F-4D97-AF65-F5344CB8AC3E}">
        <p14:creationId xmlns:p14="http://schemas.microsoft.com/office/powerpoint/2010/main" val="30924983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2317C47-1E5B-4256-AE64-E0D91D41C53C}"/>
              </a:ext>
            </a:extLst>
          </p:cNvPr>
          <p:cNvSpPr>
            <a:spLocks noGrp="1"/>
          </p:cNvSpPr>
          <p:nvPr>
            <p:ph type="subTitle" idx="1"/>
          </p:nvPr>
        </p:nvSpPr>
        <p:spPr>
          <a:xfrm>
            <a:off x="1434353" y="2400768"/>
            <a:ext cx="9144000" cy="1655762"/>
          </a:xfrm>
        </p:spPr>
        <p:txBody>
          <a:bodyPr>
            <a:normAutofit/>
          </a:bodyPr>
          <a:lstStyle/>
          <a:p>
            <a:endParaRPr lang="en-US" sz="4400" b="1" dirty="0"/>
          </a:p>
          <a:p>
            <a:r>
              <a:rPr lang="en-US" sz="4400" b="1" dirty="0"/>
              <a:t>Thank You</a:t>
            </a:r>
            <a:endParaRPr lang="en-IN" sz="4400" b="1" dirty="0"/>
          </a:p>
        </p:txBody>
      </p:sp>
      <p:pic>
        <p:nvPicPr>
          <p:cNvPr id="4" name="Picture 3">
            <a:extLst>
              <a:ext uri="{FF2B5EF4-FFF2-40B4-BE49-F238E27FC236}">
                <a16:creationId xmlns:a16="http://schemas.microsoft.com/office/drawing/2014/main" id="{D1DC5774-D8AE-4B2C-92BC-3ED0E0FF8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5980"/>
            <a:ext cx="12192000" cy="502020"/>
          </a:xfrm>
          <a:prstGeom prst="rect">
            <a:avLst/>
          </a:prstGeom>
        </p:spPr>
      </p:pic>
      <p:cxnSp>
        <p:nvCxnSpPr>
          <p:cNvPr id="5" name="Straight Connector 4">
            <a:extLst>
              <a:ext uri="{FF2B5EF4-FFF2-40B4-BE49-F238E27FC236}">
                <a16:creationId xmlns:a16="http://schemas.microsoft.com/office/drawing/2014/main" id="{5758B23B-09C8-4097-9750-A849F3C17BC4}"/>
              </a:ext>
            </a:extLst>
          </p:cNvPr>
          <p:cNvCxnSpPr/>
          <p:nvPr/>
        </p:nvCxnSpPr>
        <p:spPr>
          <a:xfrm>
            <a:off x="0" y="1362635"/>
            <a:ext cx="12192000"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8522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554</Words>
  <Application>Microsoft Office PowerPoint</Application>
  <PresentationFormat>Widescreen</PresentationFormat>
  <Paragraphs>61</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Algorithms</vt:lpstr>
      <vt:lpstr>Workflow</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Chandu !</dc:creator>
  <cp:lastModifiedBy>Akshay Teja Thota</cp:lastModifiedBy>
  <cp:revision>23</cp:revision>
  <dcterms:created xsi:type="dcterms:W3CDTF">2025-10-09T12:27:52Z</dcterms:created>
  <dcterms:modified xsi:type="dcterms:W3CDTF">2025-10-25T17:29:46Z</dcterms:modified>
</cp:coreProperties>
</file>